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jpg" ContentType="image/jp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Default Extension="png" ContentType="image/png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6939" y="494792"/>
            <a:ext cx="4222115" cy="635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939" y="609676"/>
            <a:ext cx="8403590" cy="75087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93750" y="2030729"/>
            <a:ext cx="10604500" cy="38036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jp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jp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jpg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jpg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.png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png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.jpg"/></Relationships>
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.jpg"/></Relationships>
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0.jpg"/></Relationships>
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1.jpg"/></Relationships>
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23182" y="1472565"/>
            <a:ext cx="3950970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30"/>
              <a:t>ACADEMIC</a:t>
            </a:r>
            <a:r>
              <a:rPr dirty="0" sz="2800" spc="-110"/>
              <a:t> </a:t>
            </a:r>
            <a:r>
              <a:rPr dirty="0" sz="2800"/>
              <a:t>YEAR</a:t>
            </a:r>
            <a:r>
              <a:rPr dirty="0" sz="2800" spc="-105"/>
              <a:t> </a:t>
            </a:r>
            <a:r>
              <a:rPr dirty="0" sz="2800" spc="-45"/>
              <a:t>2026-</a:t>
            </a:r>
            <a:r>
              <a:rPr dirty="0" sz="2800" spc="-20"/>
              <a:t>2027</a:t>
            </a:r>
            <a:endParaRPr sz="2800"/>
          </a:p>
        </p:txBody>
      </p:sp>
      <p:sp>
        <p:nvSpPr>
          <p:cNvPr id="3" name="object 3" descr=""/>
          <p:cNvSpPr txBox="1"/>
          <p:nvPr/>
        </p:nvSpPr>
        <p:spPr>
          <a:xfrm>
            <a:off x="2510408" y="2241042"/>
            <a:ext cx="7171055" cy="160401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L="3175">
              <a:lnSpc>
                <a:spcPct val="100000"/>
              </a:lnSpc>
              <a:spcBef>
                <a:spcPts val="95"/>
              </a:spcBef>
            </a:pPr>
            <a:r>
              <a:rPr dirty="0" sz="2800" spc="-25">
                <a:latin typeface="Calibri Light"/>
                <a:cs typeface="Calibri Light"/>
              </a:rPr>
              <a:t>Project</a:t>
            </a:r>
            <a:r>
              <a:rPr dirty="0" sz="2800" spc="-105">
                <a:latin typeface="Calibri Light"/>
                <a:cs typeface="Calibri Light"/>
              </a:rPr>
              <a:t> </a:t>
            </a:r>
            <a:r>
              <a:rPr dirty="0" sz="2800" spc="-30">
                <a:latin typeface="Calibri Light"/>
                <a:cs typeface="Calibri Light"/>
              </a:rPr>
              <a:t>Review</a:t>
            </a:r>
            <a:r>
              <a:rPr dirty="0" sz="2800" spc="-114">
                <a:latin typeface="Calibri Light"/>
                <a:cs typeface="Calibri Light"/>
              </a:rPr>
              <a:t> </a:t>
            </a:r>
            <a:r>
              <a:rPr dirty="0" sz="2800">
                <a:latin typeface="Calibri Light"/>
                <a:cs typeface="Calibri Light"/>
              </a:rPr>
              <a:t>–</a:t>
            </a:r>
            <a:r>
              <a:rPr dirty="0" sz="2800" spc="-75">
                <a:latin typeface="Calibri Light"/>
                <a:cs typeface="Calibri Light"/>
              </a:rPr>
              <a:t> </a:t>
            </a:r>
            <a:r>
              <a:rPr dirty="0" sz="2800" spc="-10">
                <a:latin typeface="Calibri Light"/>
                <a:cs typeface="Calibri Light"/>
              </a:rPr>
              <a:t>Phase</a:t>
            </a:r>
            <a:r>
              <a:rPr dirty="0" sz="2800" spc="-105">
                <a:latin typeface="Calibri Light"/>
                <a:cs typeface="Calibri Light"/>
              </a:rPr>
              <a:t> </a:t>
            </a:r>
            <a:r>
              <a:rPr dirty="0" sz="2800" spc="-50">
                <a:latin typeface="Calibri Light"/>
                <a:cs typeface="Calibri Light"/>
              </a:rPr>
              <a:t>1</a:t>
            </a:r>
            <a:endParaRPr sz="2800">
              <a:latin typeface="Calibri Light"/>
              <a:cs typeface="Calibri Light"/>
            </a:endParaRPr>
          </a:p>
          <a:p>
            <a:pPr algn="ctr" marL="635">
              <a:lnSpc>
                <a:spcPts val="3195"/>
              </a:lnSpc>
              <a:spcBef>
                <a:spcPts val="2685"/>
              </a:spcBef>
            </a:pPr>
            <a:r>
              <a:rPr dirty="0" sz="2800" spc="-20">
                <a:latin typeface="Calibri Light"/>
                <a:cs typeface="Calibri Light"/>
              </a:rPr>
              <a:t>Student</a:t>
            </a:r>
            <a:r>
              <a:rPr dirty="0" sz="2800" spc="-95">
                <a:latin typeface="Calibri Light"/>
                <a:cs typeface="Calibri Light"/>
              </a:rPr>
              <a:t> </a:t>
            </a:r>
            <a:r>
              <a:rPr dirty="0" sz="2800" spc="-20">
                <a:latin typeface="Calibri Light"/>
                <a:cs typeface="Calibri Light"/>
              </a:rPr>
              <a:t>Learning</a:t>
            </a:r>
            <a:r>
              <a:rPr dirty="0" sz="2800" spc="-85">
                <a:latin typeface="Calibri Light"/>
                <a:cs typeface="Calibri Light"/>
              </a:rPr>
              <a:t> </a:t>
            </a:r>
            <a:r>
              <a:rPr dirty="0" sz="2800" spc="-25">
                <a:latin typeface="Calibri Light"/>
                <a:cs typeface="Calibri Light"/>
              </a:rPr>
              <a:t>Adaptability</a:t>
            </a:r>
            <a:r>
              <a:rPr dirty="0" sz="2800" spc="-85">
                <a:latin typeface="Calibri Light"/>
                <a:cs typeface="Calibri Light"/>
              </a:rPr>
              <a:t> </a:t>
            </a:r>
            <a:r>
              <a:rPr dirty="0" sz="2800" spc="-30">
                <a:latin typeface="Calibri Light"/>
                <a:cs typeface="Calibri Light"/>
              </a:rPr>
              <a:t>Assessment</a:t>
            </a:r>
            <a:r>
              <a:rPr dirty="0" sz="2800" spc="-85">
                <a:latin typeface="Calibri Light"/>
                <a:cs typeface="Calibri Light"/>
              </a:rPr>
              <a:t> </a:t>
            </a:r>
            <a:r>
              <a:rPr dirty="0" sz="2800" spc="-20">
                <a:latin typeface="Calibri Light"/>
                <a:cs typeface="Calibri Light"/>
              </a:rPr>
              <a:t>Tool</a:t>
            </a:r>
            <a:endParaRPr sz="2800">
              <a:latin typeface="Calibri Light"/>
              <a:cs typeface="Calibri Light"/>
            </a:endParaRPr>
          </a:p>
          <a:p>
            <a:pPr algn="ctr">
              <a:lnSpc>
                <a:spcPts val="3195"/>
              </a:lnSpc>
            </a:pPr>
            <a:r>
              <a:rPr dirty="0" sz="2800" i="1">
                <a:latin typeface="Calibri Light"/>
                <a:cs typeface="Calibri Light"/>
              </a:rPr>
              <a:t>A</a:t>
            </a:r>
            <a:r>
              <a:rPr dirty="0" sz="2800" spc="-80" i="1">
                <a:latin typeface="Calibri Light"/>
                <a:cs typeface="Calibri Light"/>
              </a:rPr>
              <a:t> </a:t>
            </a:r>
            <a:r>
              <a:rPr dirty="0" sz="2800" spc="-20" i="1">
                <a:latin typeface="Calibri Light"/>
                <a:cs typeface="Calibri Light"/>
              </a:rPr>
              <a:t>Multi-</a:t>
            </a:r>
            <a:r>
              <a:rPr dirty="0" sz="2800" i="1">
                <a:latin typeface="Calibri Light"/>
                <a:cs typeface="Calibri Light"/>
              </a:rPr>
              <a:t>Dimensional</a:t>
            </a:r>
            <a:r>
              <a:rPr dirty="0" sz="2800" spc="-25" i="1">
                <a:latin typeface="Calibri Light"/>
                <a:cs typeface="Calibri Light"/>
              </a:rPr>
              <a:t> </a:t>
            </a:r>
            <a:r>
              <a:rPr dirty="0" sz="2800" i="1">
                <a:latin typeface="Calibri Light"/>
                <a:cs typeface="Calibri Light"/>
              </a:rPr>
              <a:t>Academic</a:t>
            </a:r>
            <a:r>
              <a:rPr dirty="0" sz="2800" spc="-35" i="1">
                <a:latin typeface="Calibri Light"/>
                <a:cs typeface="Calibri Light"/>
              </a:rPr>
              <a:t> </a:t>
            </a:r>
            <a:r>
              <a:rPr dirty="0" sz="2800" spc="-10" i="1">
                <a:latin typeface="Calibri Light"/>
                <a:cs typeface="Calibri Light"/>
              </a:rPr>
              <a:t>Intelligence</a:t>
            </a:r>
            <a:r>
              <a:rPr dirty="0" sz="2800" spc="-55" i="1">
                <a:latin typeface="Calibri Light"/>
                <a:cs typeface="Calibri Light"/>
              </a:rPr>
              <a:t> </a:t>
            </a:r>
            <a:r>
              <a:rPr dirty="0" sz="2800" spc="-10" i="1">
                <a:latin typeface="Calibri Light"/>
                <a:cs typeface="Calibri Light"/>
              </a:rPr>
              <a:t>System</a:t>
            </a:r>
            <a:endParaRPr sz="2800">
              <a:latin typeface="Calibri Light"/>
              <a:cs typeface="Calibri Light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5223509" y="4704969"/>
            <a:ext cx="1744345" cy="142621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L="1905">
              <a:lnSpc>
                <a:spcPct val="100000"/>
              </a:lnSpc>
              <a:spcBef>
                <a:spcPts val="95"/>
              </a:spcBef>
            </a:pPr>
            <a:r>
              <a:rPr dirty="0" sz="2200" spc="-10">
                <a:latin typeface="Calibri"/>
                <a:cs typeface="Calibri"/>
              </a:rPr>
              <a:t>Presented</a:t>
            </a:r>
            <a:r>
              <a:rPr dirty="0" sz="2200" spc="-70">
                <a:latin typeface="Calibri"/>
                <a:cs typeface="Calibri"/>
              </a:rPr>
              <a:t> </a:t>
            </a:r>
            <a:r>
              <a:rPr dirty="0" sz="2200" spc="-25">
                <a:latin typeface="Calibri"/>
                <a:cs typeface="Calibri"/>
              </a:rPr>
              <a:t>by:</a:t>
            </a:r>
            <a:endParaRPr sz="2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55"/>
              </a:spcBef>
            </a:pPr>
            <a:endParaRPr sz="2200">
              <a:latin typeface="Calibri"/>
              <a:cs typeface="Calibri"/>
            </a:endParaRPr>
          </a:p>
          <a:p>
            <a:pPr algn="ctr" marL="12065" marR="5080" indent="635">
              <a:lnSpc>
                <a:spcPct val="70000"/>
              </a:lnSpc>
              <a:spcBef>
                <a:spcPts val="5"/>
              </a:spcBef>
            </a:pPr>
            <a:r>
              <a:rPr dirty="0" sz="2200" spc="-35">
                <a:latin typeface="Calibri"/>
                <a:cs typeface="Calibri"/>
              </a:rPr>
              <a:t>KAVIPRIYA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 spc="-50">
                <a:latin typeface="Calibri"/>
                <a:cs typeface="Calibri"/>
              </a:rPr>
              <a:t>P </a:t>
            </a:r>
            <a:r>
              <a:rPr dirty="0" sz="2200" spc="-10">
                <a:latin typeface="Calibri"/>
                <a:cs typeface="Calibri"/>
              </a:rPr>
              <a:t>7376232CB126 </a:t>
            </a:r>
            <a:r>
              <a:rPr dirty="0" sz="2200" spc="-20">
                <a:latin typeface="Calibri"/>
                <a:cs typeface="Calibri"/>
              </a:rPr>
              <a:t>CSBS</a:t>
            </a:r>
            <a:endParaRPr sz="2200">
              <a:latin typeface="Calibri"/>
              <a:cs typeface="Calibri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13888" y="429768"/>
            <a:ext cx="5723002" cy="66185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45"/>
              <a:t>Introduction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16939" y="1706841"/>
            <a:ext cx="10288270" cy="3094990"/>
          </a:xfrm>
          <a:prstGeom prst="rect">
            <a:avLst/>
          </a:prstGeom>
        </p:spPr>
        <p:txBody>
          <a:bodyPr wrap="square" lIns="0" tIns="98425" rIns="0" bIns="0" rtlCol="0" vert="horz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77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latin typeface="Calibri"/>
                <a:cs typeface="Calibri"/>
              </a:rPr>
              <a:t>In</a:t>
            </a:r>
            <a:r>
              <a:rPr dirty="0" sz="2800" spc="-4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modern</a:t>
            </a:r>
            <a:r>
              <a:rPr dirty="0" sz="2800" spc="-1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academic</a:t>
            </a:r>
            <a:r>
              <a:rPr dirty="0" sz="2800" spc="-4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institutions:</a:t>
            </a:r>
            <a:endParaRPr sz="28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2800">
                <a:latin typeface="Calibri"/>
                <a:cs typeface="Calibri"/>
              </a:rPr>
              <a:t>Academic</a:t>
            </a:r>
            <a:r>
              <a:rPr dirty="0" sz="2800" spc="-8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marks</a:t>
            </a:r>
            <a:r>
              <a:rPr dirty="0" sz="2800" spc="-9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are</a:t>
            </a:r>
            <a:r>
              <a:rPr dirty="0" sz="2800" spc="-90">
                <a:latin typeface="Calibri"/>
                <a:cs typeface="Calibri"/>
              </a:rPr>
              <a:t> </a:t>
            </a:r>
            <a:r>
              <a:rPr dirty="0" sz="2800" spc="-20">
                <a:latin typeface="Calibri"/>
                <a:cs typeface="Calibri"/>
              </a:rPr>
              <a:t>tracked</a:t>
            </a:r>
            <a:r>
              <a:rPr dirty="0" sz="2800" spc="-10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separately.</a:t>
            </a:r>
            <a:endParaRPr sz="28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660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2800" spc="-10">
                <a:latin typeface="Calibri"/>
                <a:cs typeface="Calibri"/>
              </a:rPr>
              <a:t>Reward</a:t>
            </a:r>
            <a:r>
              <a:rPr dirty="0" sz="2800" spc="-8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points</a:t>
            </a:r>
            <a:r>
              <a:rPr dirty="0" sz="2800" spc="-5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and</a:t>
            </a:r>
            <a:r>
              <a:rPr dirty="0" sz="2800" spc="-7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skill</a:t>
            </a:r>
            <a:r>
              <a:rPr dirty="0" sz="2800" spc="-75">
                <a:latin typeface="Calibri"/>
                <a:cs typeface="Calibri"/>
              </a:rPr>
              <a:t> </a:t>
            </a:r>
            <a:r>
              <a:rPr dirty="0" sz="2800" spc="-20">
                <a:latin typeface="Calibri"/>
                <a:cs typeface="Calibri"/>
              </a:rPr>
              <a:t>systems</a:t>
            </a:r>
            <a:r>
              <a:rPr dirty="0" sz="2800" spc="-6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are</a:t>
            </a:r>
            <a:r>
              <a:rPr dirty="0" sz="2800" spc="-8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separate.</a:t>
            </a:r>
            <a:endParaRPr sz="28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665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2800" spc="-20">
                <a:latin typeface="Calibri"/>
                <a:cs typeface="Calibri"/>
              </a:rPr>
              <a:t>Attendance</a:t>
            </a:r>
            <a:r>
              <a:rPr dirty="0" sz="2800" spc="-4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monitoring</a:t>
            </a:r>
            <a:r>
              <a:rPr dirty="0" sz="2800" spc="-4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is</a:t>
            </a:r>
            <a:r>
              <a:rPr dirty="0" sz="2800" spc="-6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independent.</a:t>
            </a:r>
            <a:endParaRPr sz="28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670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2800" spc="-10">
                <a:latin typeface="Calibri"/>
                <a:cs typeface="Calibri"/>
              </a:rPr>
              <a:t>Mentors</a:t>
            </a:r>
            <a:r>
              <a:rPr dirty="0" sz="2800" spc="-114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manually</a:t>
            </a:r>
            <a:r>
              <a:rPr dirty="0" sz="2800" spc="-12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analyze</a:t>
            </a:r>
            <a:r>
              <a:rPr dirty="0" sz="2800" spc="-14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student</a:t>
            </a:r>
            <a:r>
              <a:rPr dirty="0" sz="2800" spc="-9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performance.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60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latin typeface="Calibri"/>
                <a:cs typeface="Calibri"/>
              </a:rPr>
              <a:t>There</a:t>
            </a:r>
            <a:r>
              <a:rPr dirty="0" sz="2800" spc="-7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is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no</a:t>
            </a:r>
            <a:r>
              <a:rPr dirty="0" sz="2800" spc="-6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unified</a:t>
            </a:r>
            <a:r>
              <a:rPr dirty="0" sz="2800" spc="-5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system</a:t>
            </a:r>
            <a:r>
              <a:rPr dirty="0" sz="2800" spc="-6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that</a:t>
            </a:r>
            <a:r>
              <a:rPr dirty="0" sz="2800" spc="-7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evaluates</a:t>
            </a:r>
            <a:r>
              <a:rPr dirty="0" sz="2800" spc="-7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overall</a:t>
            </a:r>
            <a:r>
              <a:rPr dirty="0" sz="2800" spc="-8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learning</a:t>
            </a:r>
            <a:r>
              <a:rPr dirty="0" sz="2800" spc="-7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adaptability.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45"/>
              <a:t>Problem</a:t>
            </a:r>
            <a:r>
              <a:rPr dirty="0" spc="-200"/>
              <a:t> </a:t>
            </a:r>
            <a:r>
              <a:rPr dirty="0" spc="-45"/>
              <a:t>Statement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16939" y="1706841"/>
            <a:ext cx="7998459" cy="3605529"/>
          </a:xfrm>
          <a:prstGeom prst="rect">
            <a:avLst/>
          </a:prstGeom>
        </p:spPr>
        <p:txBody>
          <a:bodyPr wrap="square" lIns="0" tIns="98425" rIns="0" bIns="0" rtlCol="0" vert="horz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77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-9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current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system</a:t>
            </a:r>
            <a:r>
              <a:rPr dirty="0" sz="2800" spc="-7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lacks:</a:t>
            </a:r>
            <a:endParaRPr sz="28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2800" spc="-20">
                <a:latin typeface="Calibri"/>
                <a:cs typeface="Calibri"/>
              </a:rPr>
              <a:t>Integrated</a:t>
            </a:r>
            <a:r>
              <a:rPr dirty="0" sz="2800" spc="-8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academic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and</a:t>
            </a:r>
            <a:r>
              <a:rPr dirty="0" sz="2800" spc="-6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skill</a:t>
            </a:r>
            <a:r>
              <a:rPr dirty="0" sz="2800" spc="-6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analysis</a:t>
            </a:r>
            <a:endParaRPr sz="28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660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2800">
                <a:latin typeface="Calibri"/>
                <a:cs typeface="Calibri"/>
              </a:rPr>
              <a:t>Early</a:t>
            </a:r>
            <a:r>
              <a:rPr dirty="0" sz="2800" spc="-8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identification</a:t>
            </a:r>
            <a:r>
              <a:rPr dirty="0" sz="2800" spc="-6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of</a:t>
            </a:r>
            <a:r>
              <a:rPr dirty="0" sz="2800" spc="-7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low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adaptability</a:t>
            </a:r>
            <a:r>
              <a:rPr dirty="0" sz="2800" spc="-6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students</a:t>
            </a:r>
            <a:endParaRPr sz="28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665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2800">
                <a:latin typeface="Calibri"/>
                <a:cs typeface="Calibri"/>
              </a:rPr>
              <a:t>Structured</a:t>
            </a:r>
            <a:r>
              <a:rPr dirty="0" sz="2800" spc="-14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recovery</a:t>
            </a:r>
            <a:r>
              <a:rPr dirty="0" sz="2800" spc="-16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tracking</a:t>
            </a:r>
            <a:endParaRPr sz="28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670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2800">
                <a:latin typeface="Calibri"/>
                <a:cs typeface="Calibri"/>
              </a:rPr>
              <a:t>Root</a:t>
            </a:r>
            <a:r>
              <a:rPr dirty="0" sz="2800" spc="-8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cause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diagnosis</a:t>
            </a:r>
            <a:r>
              <a:rPr dirty="0" sz="2800" spc="-5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of</a:t>
            </a:r>
            <a:r>
              <a:rPr dirty="0" sz="2800" spc="-8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weak</a:t>
            </a:r>
            <a:r>
              <a:rPr dirty="0" sz="2800" spc="-7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performance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60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 spc="-10">
                <a:latin typeface="Calibri"/>
                <a:cs typeface="Calibri"/>
              </a:rPr>
              <a:t>Centralized</a:t>
            </a:r>
            <a:r>
              <a:rPr dirty="0" sz="2800" spc="-12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adaptability</a:t>
            </a:r>
            <a:r>
              <a:rPr dirty="0" sz="2800" spc="-114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intelligence</a:t>
            </a:r>
            <a:endParaRPr sz="28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665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2800">
                <a:latin typeface="Calibri"/>
                <a:cs typeface="Calibri"/>
              </a:rPr>
              <a:t>This</a:t>
            </a:r>
            <a:r>
              <a:rPr dirty="0" sz="2800" spc="-8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leads</a:t>
            </a:r>
            <a:r>
              <a:rPr dirty="0" sz="2800" spc="-8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to</a:t>
            </a:r>
            <a:r>
              <a:rPr dirty="0" sz="2800" spc="-8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delayed</a:t>
            </a:r>
            <a:r>
              <a:rPr dirty="0" sz="2800" spc="-7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mentoring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and</a:t>
            </a:r>
            <a:r>
              <a:rPr dirty="0" sz="2800" spc="-6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reactive</a:t>
            </a:r>
            <a:r>
              <a:rPr dirty="0" sz="2800" spc="-8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support.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5269230" cy="69723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25"/>
              <a:t>Existing</a:t>
            </a:r>
            <a:r>
              <a:rPr dirty="0" spc="-175"/>
              <a:t> </a:t>
            </a:r>
            <a:r>
              <a:rPr dirty="0" spc="-50"/>
              <a:t>System</a:t>
            </a:r>
            <a:r>
              <a:rPr dirty="0" spc="-200"/>
              <a:t> </a:t>
            </a:r>
            <a:r>
              <a:rPr dirty="0" spc="-10"/>
              <a:t>Analysis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16939" y="1717547"/>
            <a:ext cx="6101080" cy="4242435"/>
          </a:xfrm>
          <a:prstGeom prst="rect">
            <a:avLst/>
          </a:prstGeom>
        </p:spPr>
        <p:txBody>
          <a:bodyPr wrap="square" lIns="0" tIns="54610" rIns="0" bIns="0" rtlCol="0" vert="horz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430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latin typeface="Calibri"/>
                <a:cs typeface="Calibri"/>
              </a:rPr>
              <a:t>Current</a:t>
            </a:r>
            <a:r>
              <a:rPr dirty="0" sz="2800" spc="-9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portals</a:t>
            </a:r>
            <a:r>
              <a:rPr dirty="0" sz="2800" spc="-9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provide:</a:t>
            </a:r>
            <a:endParaRPr sz="28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325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2800">
                <a:latin typeface="Calibri"/>
                <a:cs typeface="Calibri"/>
              </a:rPr>
              <a:t>PT1,</a:t>
            </a:r>
            <a:r>
              <a:rPr dirty="0" sz="2800" spc="-5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PT2,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Semester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results</a:t>
            </a:r>
            <a:endParaRPr sz="28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335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2800" spc="-10">
                <a:latin typeface="Calibri"/>
                <a:cs typeface="Calibri"/>
              </a:rPr>
              <a:t>Reward</a:t>
            </a:r>
            <a:r>
              <a:rPr dirty="0" sz="2800" spc="-12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points</a:t>
            </a:r>
            <a:r>
              <a:rPr dirty="0" sz="2800" spc="-9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and</a:t>
            </a:r>
            <a:r>
              <a:rPr dirty="0" sz="2800" spc="-114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department</a:t>
            </a:r>
            <a:r>
              <a:rPr dirty="0" sz="2800" spc="-9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averages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32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latin typeface="Calibri"/>
                <a:cs typeface="Calibri"/>
              </a:rPr>
              <a:t>Skill</a:t>
            </a:r>
            <a:r>
              <a:rPr dirty="0" sz="2800" spc="-9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progress</a:t>
            </a:r>
            <a:r>
              <a:rPr dirty="0" sz="2800" spc="-8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levels</a:t>
            </a:r>
            <a:endParaRPr sz="28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325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2800" spc="-20">
                <a:latin typeface="Calibri"/>
                <a:cs typeface="Calibri"/>
              </a:rPr>
              <a:t>Attendance</a:t>
            </a:r>
            <a:r>
              <a:rPr dirty="0" sz="2800" spc="-55">
                <a:latin typeface="Calibri"/>
                <a:cs typeface="Calibri"/>
              </a:rPr>
              <a:t> </a:t>
            </a:r>
            <a:r>
              <a:rPr dirty="0" sz="2800" spc="-20">
                <a:latin typeface="Calibri"/>
                <a:cs typeface="Calibri"/>
              </a:rPr>
              <a:t>data</a:t>
            </a:r>
            <a:endParaRPr sz="28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340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2800" spc="-10" b="1">
                <a:latin typeface="Calibri"/>
                <a:cs typeface="Calibri"/>
              </a:rPr>
              <a:t>However:</a:t>
            </a:r>
            <a:endParaRPr sz="28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325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2800">
                <a:latin typeface="Calibri"/>
                <a:cs typeface="Calibri"/>
              </a:rPr>
              <a:t>These</a:t>
            </a:r>
            <a:r>
              <a:rPr dirty="0" sz="2800" spc="-114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systems</a:t>
            </a:r>
            <a:r>
              <a:rPr dirty="0" sz="2800" spc="-9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operate</a:t>
            </a:r>
            <a:r>
              <a:rPr dirty="0" sz="2800" spc="-11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independently</a:t>
            </a:r>
            <a:endParaRPr sz="28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325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2800">
                <a:latin typeface="Calibri"/>
                <a:cs typeface="Calibri"/>
              </a:rPr>
              <a:t>No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consolidated</a:t>
            </a:r>
            <a:r>
              <a:rPr dirty="0" sz="2800" spc="-6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analysis</a:t>
            </a:r>
            <a:r>
              <a:rPr dirty="0" sz="2800" spc="-6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exists</a:t>
            </a:r>
            <a:endParaRPr sz="28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335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2800">
                <a:latin typeface="Calibri"/>
                <a:cs typeface="Calibri"/>
              </a:rPr>
              <a:t>No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adaptability</a:t>
            </a:r>
            <a:r>
              <a:rPr dirty="0" sz="2800" spc="-6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intelligence</a:t>
            </a:r>
            <a:r>
              <a:rPr dirty="0" sz="2800" spc="-6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is</a:t>
            </a:r>
            <a:r>
              <a:rPr dirty="0" sz="2800" spc="-8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generated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45"/>
              <a:t>Proposed</a:t>
            </a:r>
            <a:r>
              <a:rPr dirty="0" spc="-200"/>
              <a:t> </a:t>
            </a:r>
            <a:r>
              <a:rPr dirty="0" spc="-30"/>
              <a:t>Solution</a:t>
            </a:r>
            <a:r>
              <a:rPr dirty="0" spc="-190"/>
              <a:t> </a:t>
            </a:r>
            <a:r>
              <a:rPr dirty="0" spc="-10"/>
              <a:t>Overview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16939" y="1706841"/>
            <a:ext cx="7345045" cy="3605529"/>
          </a:xfrm>
          <a:prstGeom prst="rect">
            <a:avLst/>
          </a:prstGeom>
        </p:spPr>
        <p:txBody>
          <a:bodyPr wrap="square" lIns="0" tIns="98425" rIns="0" bIns="0" rtlCol="0" vert="horz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77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-5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objective</a:t>
            </a:r>
            <a:r>
              <a:rPr dirty="0" sz="2800" spc="-4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of</a:t>
            </a:r>
            <a:r>
              <a:rPr dirty="0" sz="2800" spc="-6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this</a:t>
            </a:r>
            <a:r>
              <a:rPr dirty="0" sz="2800" spc="-3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project</a:t>
            </a:r>
            <a:r>
              <a:rPr dirty="0" sz="2800" spc="-4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is</a:t>
            </a:r>
            <a:r>
              <a:rPr dirty="0" sz="2800" spc="-50">
                <a:latin typeface="Calibri"/>
                <a:cs typeface="Calibri"/>
              </a:rPr>
              <a:t> </a:t>
            </a:r>
            <a:r>
              <a:rPr dirty="0" sz="2800" spc="-25">
                <a:latin typeface="Calibri"/>
                <a:cs typeface="Calibri"/>
              </a:rPr>
              <a:t>to:</a:t>
            </a:r>
            <a:endParaRPr sz="28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2800" spc="-20">
                <a:latin typeface="Calibri"/>
                <a:cs typeface="Calibri"/>
              </a:rPr>
              <a:t>Integrate</a:t>
            </a:r>
            <a:r>
              <a:rPr dirty="0" sz="2800" spc="-11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academic,</a:t>
            </a:r>
            <a:r>
              <a:rPr dirty="0" sz="2800" spc="-8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reward,</a:t>
            </a:r>
            <a:r>
              <a:rPr dirty="0" sz="2800" spc="-8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and</a:t>
            </a:r>
            <a:r>
              <a:rPr dirty="0" sz="2800" spc="-8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attendance</a:t>
            </a:r>
            <a:r>
              <a:rPr dirty="0" sz="2800" spc="-80">
                <a:latin typeface="Calibri"/>
                <a:cs typeface="Calibri"/>
              </a:rPr>
              <a:t> </a:t>
            </a:r>
            <a:r>
              <a:rPr dirty="0" sz="2800" spc="-20">
                <a:latin typeface="Calibri"/>
                <a:cs typeface="Calibri"/>
              </a:rPr>
              <a:t>data</a:t>
            </a:r>
            <a:endParaRPr sz="28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660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2800">
                <a:latin typeface="Calibri"/>
                <a:cs typeface="Calibri"/>
              </a:rPr>
              <a:t>Measure</a:t>
            </a:r>
            <a:r>
              <a:rPr dirty="0" sz="2800" spc="-11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adaptability</a:t>
            </a:r>
            <a:r>
              <a:rPr dirty="0" sz="2800" spc="-12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across</a:t>
            </a:r>
            <a:r>
              <a:rPr dirty="0" sz="2800" spc="-12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multiple</a:t>
            </a:r>
            <a:r>
              <a:rPr dirty="0" sz="2800" spc="-10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dimensions</a:t>
            </a:r>
            <a:endParaRPr sz="28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665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2800">
                <a:latin typeface="Calibri"/>
                <a:cs typeface="Calibri"/>
              </a:rPr>
              <a:t>Identify</a:t>
            </a:r>
            <a:r>
              <a:rPr dirty="0" sz="2800" spc="-114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low</a:t>
            </a:r>
            <a:r>
              <a:rPr dirty="0" sz="2800" spc="-114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adaptability</a:t>
            </a:r>
            <a:r>
              <a:rPr dirty="0" sz="2800" spc="-114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students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early</a:t>
            </a:r>
            <a:endParaRPr sz="28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670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2800">
                <a:latin typeface="Calibri"/>
                <a:cs typeface="Calibri"/>
              </a:rPr>
              <a:t>Provide</a:t>
            </a:r>
            <a:r>
              <a:rPr dirty="0" sz="2800" spc="-9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diagnostic</a:t>
            </a:r>
            <a:r>
              <a:rPr dirty="0" sz="2800" spc="-9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insights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60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latin typeface="Calibri"/>
                <a:cs typeface="Calibri"/>
              </a:rPr>
              <a:t>Support</a:t>
            </a:r>
            <a:r>
              <a:rPr dirty="0" sz="2800" spc="-8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mentor</a:t>
            </a:r>
            <a:r>
              <a:rPr dirty="0" sz="2800" spc="-10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intervention</a:t>
            </a:r>
            <a:r>
              <a:rPr dirty="0" sz="2800" spc="-9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tracking</a:t>
            </a:r>
            <a:endParaRPr sz="28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665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2800">
                <a:latin typeface="Calibri"/>
                <a:cs typeface="Calibri"/>
              </a:rPr>
              <a:t>Improve</a:t>
            </a:r>
            <a:r>
              <a:rPr dirty="0" sz="2800" spc="-10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academic</a:t>
            </a:r>
            <a:r>
              <a:rPr dirty="0" sz="2800" spc="-105">
                <a:latin typeface="Calibri"/>
                <a:cs typeface="Calibri"/>
              </a:rPr>
              <a:t> </a:t>
            </a:r>
            <a:r>
              <a:rPr dirty="0" sz="2800" spc="-25">
                <a:latin typeface="Calibri"/>
                <a:cs typeface="Calibri"/>
              </a:rPr>
              <a:t>decision-</a:t>
            </a:r>
            <a:r>
              <a:rPr dirty="0" sz="2800" spc="-10">
                <a:latin typeface="Calibri"/>
                <a:cs typeface="Calibri"/>
              </a:rPr>
              <a:t>making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50"/>
              <a:t>Multi-</a:t>
            </a:r>
            <a:r>
              <a:rPr dirty="0" spc="-45"/>
              <a:t>Dimensional</a:t>
            </a:r>
            <a:r>
              <a:rPr dirty="0" spc="-114"/>
              <a:t> </a:t>
            </a:r>
            <a:r>
              <a:rPr dirty="0" spc="-45"/>
              <a:t>Adaptability</a:t>
            </a:r>
            <a:r>
              <a:rPr dirty="0" spc="-120"/>
              <a:t> </a:t>
            </a:r>
            <a:r>
              <a:rPr dirty="0" spc="-10"/>
              <a:t>Model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16939" y="1706841"/>
            <a:ext cx="8223250" cy="3605529"/>
          </a:xfrm>
          <a:prstGeom prst="rect">
            <a:avLst/>
          </a:prstGeom>
        </p:spPr>
        <p:txBody>
          <a:bodyPr wrap="square" lIns="0" tIns="98425" rIns="0" bIns="0" rtlCol="0" vert="horz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77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-8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system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evaluates</a:t>
            </a:r>
            <a:r>
              <a:rPr dirty="0" sz="2800" spc="-10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adaptability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across</a:t>
            </a:r>
            <a:r>
              <a:rPr dirty="0" sz="2800" spc="-8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5</a:t>
            </a:r>
            <a:r>
              <a:rPr dirty="0" sz="2800" spc="-7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dimensions:</a:t>
            </a:r>
            <a:endParaRPr sz="2800">
              <a:latin typeface="Calibri"/>
              <a:cs typeface="Calibri"/>
            </a:endParaRPr>
          </a:p>
          <a:p>
            <a:pPr marL="283210" indent="-273050">
              <a:lnSpc>
                <a:spcPct val="100000"/>
              </a:lnSpc>
              <a:spcBef>
                <a:spcPts val="675"/>
              </a:spcBef>
              <a:buSzPct val="96428"/>
              <a:buAutoNum type="arabicPeriod"/>
              <a:tabLst>
                <a:tab pos="283210" algn="l"/>
              </a:tabLst>
            </a:pPr>
            <a:r>
              <a:rPr dirty="0" sz="2800">
                <a:latin typeface="Calibri"/>
                <a:cs typeface="Calibri"/>
              </a:rPr>
              <a:t>Academic</a:t>
            </a:r>
            <a:r>
              <a:rPr dirty="0" sz="2800" spc="-13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Adaptability</a:t>
            </a:r>
            <a:endParaRPr sz="2800">
              <a:latin typeface="Calibri"/>
              <a:cs typeface="Calibri"/>
            </a:endParaRPr>
          </a:p>
          <a:p>
            <a:pPr marL="283210" indent="-273050">
              <a:lnSpc>
                <a:spcPct val="100000"/>
              </a:lnSpc>
              <a:spcBef>
                <a:spcPts val="660"/>
              </a:spcBef>
              <a:buSzPct val="96428"/>
              <a:buAutoNum type="arabicPeriod"/>
              <a:tabLst>
                <a:tab pos="283210" algn="l"/>
              </a:tabLst>
            </a:pPr>
            <a:r>
              <a:rPr dirty="0" sz="2800">
                <a:latin typeface="Calibri"/>
                <a:cs typeface="Calibri"/>
              </a:rPr>
              <a:t>Skill</a:t>
            </a:r>
            <a:r>
              <a:rPr dirty="0" sz="2800" spc="-10">
                <a:latin typeface="Calibri"/>
                <a:cs typeface="Calibri"/>
              </a:rPr>
              <a:t> Engagement</a:t>
            </a:r>
            <a:endParaRPr sz="2800">
              <a:latin typeface="Calibri"/>
              <a:cs typeface="Calibri"/>
            </a:endParaRPr>
          </a:p>
          <a:p>
            <a:pPr marL="283210" indent="-273050">
              <a:lnSpc>
                <a:spcPct val="100000"/>
              </a:lnSpc>
              <a:spcBef>
                <a:spcPts val="665"/>
              </a:spcBef>
              <a:buSzPct val="96428"/>
              <a:buAutoNum type="arabicPeriod"/>
              <a:tabLst>
                <a:tab pos="283210" algn="l"/>
              </a:tabLst>
            </a:pPr>
            <a:r>
              <a:rPr dirty="0" sz="2800" spc="-20">
                <a:latin typeface="Calibri"/>
                <a:cs typeface="Calibri"/>
              </a:rPr>
              <a:t>Attendance</a:t>
            </a:r>
            <a:r>
              <a:rPr dirty="0" sz="2800" spc="-5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Discipline</a:t>
            </a:r>
            <a:endParaRPr sz="2800">
              <a:latin typeface="Calibri"/>
              <a:cs typeface="Calibri"/>
            </a:endParaRPr>
          </a:p>
          <a:p>
            <a:pPr marL="283210" indent="-273050">
              <a:lnSpc>
                <a:spcPct val="100000"/>
              </a:lnSpc>
              <a:spcBef>
                <a:spcPts val="670"/>
              </a:spcBef>
              <a:buSzPct val="96428"/>
              <a:buAutoNum type="arabicPeriod"/>
              <a:tabLst>
                <a:tab pos="283210" algn="l"/>
              </a:tabLst>
            </a:pPr>
            <a:r>
              <a:rPr dirty="0" sz="2800">
                <a:latin typeface="Calibri"/>
                <a:cs typeface="Calibri"/>
              </a:rPr>
              <a:t>Deadline</a:t>
            </a:r>
            <a:r>
              <a:rPr dirty="0" sz="2800" spc="-9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Responsiveness</a:t>
            </a:r>
            <a:endParaRPr sz="2800">
              <a:latin typeface="Calibri"/>
              <a:cs typeface="Calibri"/>
            </a:endParaRPr>
          </a:p>
          <a:p>
            <a:pPr marL="283210" indent="-273050">
              <a:lnSpc>
                <a:spcPct val="100000"/>
              </a:lnSpc>
              <a:spcBef>
                <a:spcPts val="660"/>
              </a:spcBef>
              <a:buSzPct val="96428"/>
              <a:buAutoNum type="arabicPeriod"/>
              <a:tabLst>
                <a:tab pos="283210" algn="l"/>
              </a:tabLst>
            </a:pPr>
            <a:r>
              <a:rPr dirty="0" sz="2800">
                <a:latin typeface="Calibri"/>
                <a:cs typeface="Calibri"/>
              </a:rPr>
              <a:t>Recovery</a:t>
            </a:r>
            <a:r>
              <a:rPr dirty="0" sz="2800" spc="-13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Index</a:t>
            </a:r>
            <a:endParaRPr sz="2800">
              <a:latin typeface="Calibri"/>
              <a:cs typeface="Calibri"/>
            </a:endParaRPr>
          </a:p>
          <a:p>
            <a:pPr lvl="1" marL="240665" indent="-227965">
              <a:lnSpc>
                <a:spcPct val="100000"/>
              </a:lnSpc>
              <a:spcBef>
                <a:spcPts val="665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2800">
                <a:latin typeface="Calibri"/>
                <a:cs typeface="Calibri"/>
              </a:rPr>
              <a:t>Each</a:t>
            </a:r>
            <a:r>
              <a:rPr dirty="0" sz="2800" spc="-9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dimension</a:t>
            </a:r>
            <a:r>
              <a:rPr dirty="0" sz="2800" spc="-4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is</a:t>
            </a:r>
            <a:r>
              <a:rPr dirty="0" sz="2800" spc="-9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independently</a:t>
            </a:r>
            <a:r>
              <a:rPr dirty="0" sz="2800" spc="-5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scored</a:t>
            </a:r>
            <a:r>
              <a:rPr dirty="0" sz="2800" spc="-8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and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visualized.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6574155" cy="69723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40"/>
              <a:t>Adaptability</a:t>
            </a:r>
            <a:r>
              <a:rPr dirty="0" spc="-175"/>
              <a:t> </a:t>
            </a:r>
            <a:r>
              <a:rPr dirty="0" spc="-35"/>
              <a:t>Score</a:t>
            </a:r>
            <a:r>
              <a:rPr dirty="0" spc="-195"/>
              <a:t> </a:t>
            </a:r>
            <a:r>
              <a:rPr dirty="0" spc="-10"/>
              <a:t>Calculation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16939" y="1736801"/>
            <a:ext cx="4563110" cy="406336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600" spc="-20" b="1">
                <a:latin typeface="Calibri"/>
                <a:cs typeface="Calibri"/>
              </a:rPr>
              <a:t>Weighted</a:t>
            </a:r>
            <a:r>
              <a:rPr dirty="0" sz="2600" spc="-85" b="1">
                <a:latin typeface="Calibri"/>
                <a:cs typeface="Calibri"/>
              </a:rPr>
              <a:t> </a:t>
            </a:r>
            <a:r>
              <a:rPr dirty="0" sz="2600" spc="-10" b="1">
                <a:latin typeface="Calibri"/>
                <a:cs typeface="Calibri"/>
              </a:rPr>
              <a:t>Model:</a:t>
            </a:r>
            <a:endParaRPr sz="26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600">
                <a:latin typeface="Calibri"/>
                <a:cs typeface="Calibri"/>
              </a:rPr>
              <a:t>30%</a:t>
            </a:r>
            <a:r>
              <a:rPr dirty="0" sz="2600" spc="-3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Academic</a:t>
            </a:r>
            <a:r>
              <a:rPr dirty="0" sz="2600" spc="-45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Performance</a:t>
            </a:r>
            <a:endParaRPr sz="26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600">
                <a:latin typeface="Calibri"/>
                <a:cs typeface="Calibri"/>
              </a:rPr>
              <a:t>25%</a:t>
            </a:r>
            <a:r>
              <a:rPr dirty="0" sz="2600" spc="-3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Skill</a:t>
            </a:r>
            <a:r>
              <a:rPr dirty="0" sz="2600" spc="-2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Engagement</a:t>
            </a:r>
            <a:endParaRPr sz="26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7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600">
                <a:latin typeface="Calibri"/>
                <a:cs typeface="Calibri"/>
              </a:rPr>
              <a:t>15%</a:t>
            </a:r>
            <a:r>
              <a:rPr dirty="0" sz="2600" spc="-15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Attendance</a:t>
            </a:r>
            <a:endParaRPr sz="26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600">
                <a:latin typeface="Calibri"/>
                <a:cs typeface="Calibri"/>
              </a:rPr>
              <a:t>15%</a:t>
            </a:r>
            <a:r>
              <a:rPr dirty="0" sz="2600" spc="-1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Deadline</a:t>
            </a:r>
            <a:r>
              <a:rPr dirty="0" sz="2600" spc="-3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Discipline</a:t>
            </a:r>
            <a:endParaRPr sz="26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600">
                <a:latin typeface="Calibri"/>
                <a:cs typeface="Calibri"/>
              </a:rPr>
              <a:t>15%</a:t>
            </a:r>
            <a:r>
              <a:rPr dirty="0" sz="2600" spc="-8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Recovery</a:t>
            </a:r>
            <a:r>
              <a:rPr dirty="0" sz="2600" spc="-80">
                <a:latin typeface="Calibri"/>
                <a:cs typeface="Calibri"/>
              </a:rPr>
              <a:t> </a:t>
            </a:r>
            <a:r>
              <a:rPr dirty="0" sz="2600" spc="-20">
                <a:latin typeface="Calibri"/>
                <a:cs typeface="Calibri"/>
              </a:rPr>
              <a:t>Index</a:t>
            </a:r>
            <a:endParaRPr sz="26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7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600" b="1">
                <a:latin typeface="Calibri"/>
                <a:cs typeface="Calibri"/>
              </a:rPr>
              <a:t>Final</a:t>
            </a:r>
            <a:r>
              <a:rPr dirty="0" sz="2600" spc="-40" b="1">
                <a:latin typeface="Calibri"/>
                <a:cs typeface="Calibri"/>
              </a:rPr>
              <a:t> </a:t>
            </a:r>
            <a:r>
              <a:rPr dirty="0" sz="2600" b="1">
                <a:latin typeface="Calibri"/>
                <a:cs typeface="Calibri"/>
              </a:rPr>
              <a:t>Score</a:t>
            </a:r>
            <a:r>
              <a:rPr dirty="0" sz="2600" spc="-65" b="1">
                <a:latin typeface="Calibri"/>
                <a:cs typeface="Calibri"/>
              </a:rPr>
              <a:t> </a:t>
            </a:r>
            <a:r>
              <a:rPr dirty="0" sz="2600" spc="-10" b="1">
                <a:latin typeface="Calibri"/>
                <a:cs typeface="Calibri"/>
              </a:rPr>
              <a:t>Classification:</a:t>
            </a:r>
            <a:endParaRPr sz="26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600">
                <a:latin typeface="Calibri"/>
                <a:cs typeface="Calibri"/>
              </a:rPr>
              <a:t>0–40</a:t>
            </a:r>
            <a:r>
              <a:rPr dirty="0" sz="2600" spc="-5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→</a:t>
            </a:r>
            <a:r>
              <a:rPr dirty="0" sz="2600" spc="-2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Low</a:t>
            </a:r>
            <a:r>
              <a:rPr dirty="0" sz="2600" spc="-2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Adaptability</a:t>
            </a:r>
            <a:endParaRPr sz="26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600">
                <a:latin typeface="Calibri"/>
                <a:cs typeface="Calibri"/>
              </a:rPr>
              <a:t>41–70</a:t>
            </a:r>
            <a:r>
              <a:rPr dirty="0" sz="2600" spc="-5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→</a:t>
            </a:r>
            <a:r>
              <a:rPr dirty="0" sz="2600" spc="-2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Moderate</a:t>
            </a:r>
            <a:r>
              <a:rPr dirty="0" sz="2600" spc="-55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Adaptability</a:t>
            </a:r>
            <a:endParaRPr sz="26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7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600">
                <a:latin typeface="Calibri"/>
                <a:cs typeface="Calibri"/>
              </a:rPr>
              <a:t>71–100</a:t>
            </a:r>
            <a:r>
              <a:rPr dirty="0" sz="2600" spc="-6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→</a:t>
            </a:r>
            <a:r>
              <a:rPr dirty="0" sz="2600" spc="-2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High</a:t>
            </a:r>
            <a:r>
              <a:rPr dirty="0" sz="2600" spc="-3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Adaptability</a:t>
            </a:r>
            <a:endParaRPr sz="2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75"/>
              <a:t>Technology</a:t>
            </a:r>
            <a:r>
              <a:rPr dirty="0" spc="-165"/>
              <a:t> </a:t>
            </a:r>
            <a:r>
              <a:rPr dirty="0" spc="-10"/>
              <a:t>Stack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16939" y="1730019"/>
            <a:ext cx="3138805" cy="4366260"/>
          </a:xfrm>
          <a:prstGeom prst="rect">
            <a:avLst/>
          </a:prstGeom>
        </p:spPr>
        <p:txBody>
          <a:bodyPr wrap="square" lIns="0" tIns="38735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30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200" spc="-10" b="1">
                <a:latin typeface="Calibri"/>
                <a:cs typeface="Calibri"/>
              </a:rPr>
              <a:t>Frontend:</a:t>
            </a:r>
            <a:endParaRPr sz="22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209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200" spc="-10">
                <a:latin typeface="Calibri"/>
                <a:cs typeface="Calibri"/>
              </a:rPr>
              <a:t>React.js</a:t>
            </a:r>
            <a:endParaRPr sz="22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20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200" spc="-20">
                <a:latin typeface="Calibri"/>
                <a:cs typeface="Calibri"/>
              </a:rPr>
              <a:t>Tailwind</a:t>
            </a:r>
            <a:r>
              <a:rPr dirty="0" sz="2200" spc="-75">
                <a:latin typeface="Calibri"/>
                <a:cs typeface="Calibri"/>
              </a:rPr>
              <a:t> </a:t>
            </a:r>
            <a:r>
              <a:rPr dirty="0" sz="2200" spc="-25">
                <a:latin typeface="Calibri"/>
                <a:cs typeface="Calibri"/>
              </a:rPr>
              <a:t>CSS</a:t>
            </a:r>
            <a:endParaRPr sz="22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219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200" spc="-10" b="1">
                <a:latin typeface="Calibri"/>
                <a:cs typeface="Calibri"/>
              </a:rPr>
              <a:t>Backend:</a:t>
            </a:r>
            <a:endParaRPr sz="22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20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200">
                <a:latin typeface="Calibri"/>
                <a:cs typeface="Calibri"/>
              </a:rPr>
              <a:t>Node.js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&amp;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Express</a:t>
            </a:r>
            <a:endParaRPr sz="22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209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200" spc="-10" b="1">
                <a:latin typeface="Calibri"/>
                <a:cs typeface="Calibri"/>
              </a:rPr>
              <a:t>Database:</a:t>
            </a:r>
            <a:endParaRPr sz="22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21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200" spc="-10">
                <a:latin typeface="Calibri"/>
                <a:cs typeface="Calibri"/>
              </a:rPr>
              <a:t>MongoDB</a:t>
            </a:r>
            <a:endParaRPr sz="22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204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200" spc="-10" b="1">
                <a:latin typeface="Calibri"/>
                <a:cs typeface="Calibri"/>
              </a:rPr>
              <a:t>Security:</a:t>
            </a:r>
            <a:endParaRPr sz="22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204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200">
                <a:latin typeface="Calibri"/>
                <a:cs typeface="Calibri"/>
              </a:rPr>
              <a:t>JWT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Authentication</a:t>
            </a:r>
            <a:endParaRPr sz="22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21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200">
                <a:latin typeface="Calibri"/>
                <a:cs typeface="Calibri"/>
              </a:rPr>
              <a:t>bcrypt</a:t>
            </a:r>
            <a:r>
              <a:rPr dirty="0" sz="2200" spc="-8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password</a:t>
            </a:r>
            <a:r>
              <a:rPr dirty="0" sz="2200" spc="-8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hashing</a:t>
            </a:r>
            <a:endParaRPr sz="22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204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200" spc="-10" b="1">
                <a:latin typeface="Calibri"/>
                <a:cs typeface="Calibri"/>
              </a:rPr>
              <a:t>Deployment:</a:t>
            </a:r>
            <a:endParaRPr sz="22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204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200">
                <a:latin typeface="Calibri"/>
                <a:cs typeface="Calibri"/>
              </a:rPr>
              <a:t>Render</a:t>
            </a:r>
            <a:r>
              <a:rPr dirty="0" sz="2200" spc="-6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&amp;</a:t>
            </a:r>
            <a:r>
              <a:rPr dirty="0" sz="2200" spc="-6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MongoDB</a:t>
            </a:r>
            <a:r>
              <a:rPr dirty="0" sz="2200" spc="-7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Atlas</a:t>
            </a:r>
            <a:endParaRPr sz="2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75"/>
              <a:t>Technology</a:t>
            </a:r>
            <a:r>
              <a:rPr dirty="0" spc="-175"/>
              <a:t> </a:t>
            </a:r>
            <a:r>
              <a:rPr dirty="0" spc="-25"/>
              <a:t>Stack</a:t>
            </a:r>
            <a:r>
              <a:rPr dirty="0" spc="-195"/>
              <a:t> </a:t>
            </a:r>
            <a:r>
              <a:rPr dirty="0" spc="-25"/>
              <a:t>Justification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16939" y="1736801"/>
            <a:ext cx="8887460" cy="406336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600" spc="-10">
                <a:latin typeface="Calibri"/>
                <a:cs typeface="Calibri"/>
              </a:rPr>
              <a:t>React.js:</a:t>
            </a:r>
            <a:endParaRPr sz="26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600" spc="-10">
                <a:latin typeface="Calibri"/>
                <a:cs typeface="Calibri"/>
              </a:rPr>
              <a:t>Component-</a:t>
            </a:r>
            <a:r>
              <a:rPr dirty="0" sz="2600">
                <a:latin typeface="Calibri"/>
                <a:cs typeface="Calibri"/>
              </a:rPr>
              <a:t>based</a:t>
            </a:r>
            <a:r>
              <a:rPr dirty="0" sz="2600" spc="-6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UI</a:t>
            </a:r>
            <a:r>
              <a:rPr dirty="0" sz="2600" spc="-4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suitable</a:t>
            </a:r>
            <a:r>
              <a:rPr dirty="0" sz="2600" spc="-5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for</a:t>
            </a:r>
            <a:r>
              <a:rPr dirty="0" sz="2600" spc="-2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dashboards</a:t>
            </a:r>
            <a:r>
              <a:rPr dirty="0" sz="2600" spc="-6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and</a:t>
            </a:r>
            <a:r>
              <a:rPr dirty="0" sz="2600" spc="-35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charts.</a:t>
            </a:r>
            <a:endParaRPr sz="26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600">
                <a:latin typeface="Calibri"/>
                <a:cs typeface="Calibri"/>
              </a:rPr>
              <a:t>Node.js</a:t>
            </a:r>
            <a:r>
              <a:rPr dirty="0" sz="2600" spc="-3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&amp;</a:t>
            </a:r>
            <a:r>
              <a:rPr dirty="0" sz="2600" spc="-25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Express:</a:t>
            </a:r>
            <a:endParaRPr sz="26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7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600" spc="-10">
                <a:latin typeface="Calibri"/>
                <a:cs typeface="Calibri"/>
              </a:rPr>
              <a:t>Efficient</a:t>
            </a:r>
            <a:r>
              <a:rPr dirty="0" sz="2600" spc="-7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REST</a:t>
            </a:r>
            <a:r>
              <a:rPr dirty="0" sz="2600" spc="-8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API</a:t>
            </a:r>
            <a:r>
              <a:rPr dirty="0" sz="2600" spc="-7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development.</a:t>
            </a:r>
            <a:endParaRPr sz="26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600">
                <a:latin typeface="Calibri"/>
                <a:cs typeface="Calibri"/>
              </a:rPr>
              <a:t>Handles</a:t>
            </a:r>
            <a:r>
              <a:rPr dirty="0" sz="2600" spc="-9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adaptability</a:t>
            </a:r>
            <a:r>
              <a:rPr dirty="0" sz="2600" spc="-7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calculation</a:t>
            </a:r>
            <a:r>
              <a:rPr dirty="0" sz="2600" spc="-85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logic.</a:t>
            </a:r>
            <a:endParaRPr sz="26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600" spc="-10">
                <a:latin typeface="Calibri"/>
                <a:cs typeface="Calibri"/>
              </a:rPr>
              <a:t>MongoDB:</a:t>
            </a:r>
            <a:endParaRPr sz="26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7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600">
                <a:latin typeface="Calibri"/>
                <a:cs typeface="Calibri"/>
              </a:rPr>
              <a:t>Flexible</a:t>
            </a:r>
            <a:r>
              <a:rPr dirty="0" sz="2600" spc="-5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schema</a:t>
            </a:r>
            <a:r>
              <a:rPr dirty="0" sz="2600" spc="-7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suitable</a:t>
            </a:r>
            <a:r>
              <a:rPr dirty="0" sz="2600" spc="-4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for</a:t>
            </a:r>
            <a:r>
              <a:rPr dirty="0" sz="2600" spc="-35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multi-</a:t>
            </a:r>
            <a:r>
              <a:rPr dirty="0" sz="2600">
                <a:latin typeface="Calibri"/>
                <a:cs typeface="Calibri"/>
              </a:rPr>
              <a:t>dimensional</a:t>
            </a:r>
            <a:r>
              <a:rPr dirty="0" sz="2600" spc="-5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student</a:t>
            </a:r>
            <a:r>
              <a:rPr dirty="0" sz="2600" spc="-65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data.</a:t>
            </a:r>
            <a:endParaRPr sz="26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600" spc="-20">
                <a:latin typeface="Calibri"/>
                <a:cs typeface="Calibri"/>
              </a:rPr>
              <a:t>JWT:</a:t>
            </a:r>
            <a:endParaRPr sz="26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600">
                <a:latin typeface="Calibri"/>
                <a:cs typeface="Calibri"/>
              </a:rPr>
              <a:t>Secure</a:t>
            </a:r>
            <a:r>
              <a:rPr dirty="0" sz="2600" spc="-40">
                <a:latin typeface="Calibri"/>
                <a:cs typeface="Calibri"/>
              </a:rPr>
              <a:t> </a:t>
            </a:r>
            <a:r>
              <a:rPr dirty="0" sz="2600" spc="-20">
                <a:latin typeface="Calibri"/>
                <a:cs typeface="Calibri"/>
              </a:rPr>
              <a:t>role-</a:t>
            </a:r>
            <a:r>
              <a:rPr dirty="0" sz="2600">
                <a:latin typeface="Calibri"/>
                <a:cs typeface="Calibri"/>
              </a:rPr>
              <a:t>based</a:t>
            </a:r>
            <a:r>
              <a:rPr dirty="0" sz="2600" spc="-35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authentication.</a:t>
            </a:r>
            <a:endParaRPr sz="26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7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600">
                <a:latin typeface="Calibri"/>
                <a:cs typeface="Calibri"/>
              </a:rPr>
              <a:t>This</a:t>
            </a:r>
            <a:r>
              <a:rPr dirty="0" sz="2600" spc="-7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stack</a:t>
            </a:r>
            <a:r>
              <a:rPr dirty="0" sz="2600" spc="-4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supports</a:t>
            </a:r>
            <a:r>
              <a:rPr dirty="0" sz="2600" spc="-70">
                <a:latin typeface="Calibri"/>
                <a:cs typeface="Calibri"/>
              </a:rPr>
              <a:t> </a:t>
            </a:r>
            <a:r>
              <a:rPr dirty="0" sz="2600" spc="-20">
                <a:latin typeface="Calibri"/>
                <a:cs typeface="Calibri"/>
              </a:rPr>
              <a:t>scalability,</a:t>
            </a:r>
            <a:r>
              <a:rPr dirty="0" sz="2600" spc="-60">
                <a:latin typeface="Calibri"/>
                <a:cs typeface="Calibri"/>
              </a:rPr>
              <a:t> </a:t>
            </a:r>
            <a:r>
              <a:rPr dirty="0" sz="2600" spc="-20">
                <a:latin typeface="Calibri"/>
                <a:cs typeface="Calibri"/>
              </a:rPr>
              <a:t>flexibility,</a:t>
            </a:r>
            <a:r>
              <a:rPr dirty="0" sz="2600" spc="-8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and</a:t>
            </a:r>
            <a:r>
              <a:rPr dirty="0" sz="2600" spc="-6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rapid</a:t>
            </a:r>
            <a:r>
              <a:rPr dirty="0" sz="2600" spc="-6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development.</a:t>
            </a:r>
            <a:endParaRPr sz="2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10" b="1">
                <a:latin typeface="Calibri"/>
                <a:cs typeface="Calibri"/>
              </a:rPr>
              <a:t>System</a:t>
            </a:r>
            <a:r>
              <a:rPr dirty="0" spc="-210" b="1">
                <a:latin typeface="Calibri"/>
                <a:cs typeface="Calibri"/>
              </a:rPr>
              <a:t> </a:t>
            </a:r>
            <a:r>
              <a:rPr dirty="0" b="1">
                <a:latin typeface="Calibri"/>
                <a:cs typeface="Calibri"/>
              </a:rPr>
              <a:t>Architecture</a:t>
            </a:r>
            <a:r>
              <a:rPr dirty="0" spc="-190" b="1">
                <a:latin typeface="Calibri"/>
                <a:cs typeface="Calibri"/>
              </a:rPr>
              <a:t> </a:t>
            </a:r>
            <a:r>
              <a:rPr dirty="0" spc="-10" b="1">
                <a:latin typeface="Calibri"/>
                <a:cs typeface="Calibri"/>
              </a:rPr>
              <a:t>Diagram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18729" y="1857778"/>
            <a:ext cx="8520666" cy="430526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10" b="1">
                <a:latin typeface="Calibri"/>
                <a:cs typeface="Calibri"/>
              </a:rPr>
              <a:t>System</a:t>
            </a:r>
            <a:r>
              <a:rPr dirty="0" spc="-125" b="1">
                <a:latin typeface="Calibri"/>
                <a:cs typeface="Calibri"/>
              </a:rPr>
              <a:t> </a:t>
            </a:r>
            <a:r>
              <a:rPr dirty="0" b="1">
                <a:latin typeface="Calibri"/>
                <a:cs typeface="Calibri"/>
              </a:rPr>
              <a:t>Flow</a:t>
            </a:r>
            <a:r>
              <a:rPr dirty="0" spc="-100" b="1">
                <a:latin typeface="Calibri"/>
                <a:cs typeface="Calibri"/>
              </a:rPr>
              <a:t> </a:t>
            </a:r>
            <a:r>
              <a:rPr dirty="0" spc="-10" b="1">
                <a:latin typeface="Calibri"/>
                <a:cs typeface="Calibri"/>
              </a:rPr>
              <a:t>Explanation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16939" y="2123059"/>
            <a:ext cx="8333105" cy="2586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4330" indent="-341630">
              <a:lnSpc>
                <a:spcPct val="100000"/>
              </a:lnSpc>
              <a:spcBef>
                <a:spcPts val="100"/>
              </a:spcBef>
              <a:buAutoNum type="arabicPeriod"/>
              <a:tabLst>
                <a:tab pos="354330" algn="l"/>
              </a:tabLst>
            </a:pPr>
            <a:r>
              <a:rPr dirty="0" sz="2400">
                <a:latin typeface="Arial MT"/>
                <a:cs typeface="Arial MT"/>
              </a:rPr>
              <a:t>User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logs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in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through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frontend.</a:t>
            </a:r>
            <a:endParaRPr sz="2400">
              <a:latin typeface="Arial MT"/>
              <a:cs typeface="Arial MT"/>
            </a:endParaRPr>
          </a:p>
          <a:p>
            <a:pPr marL="354330" indent="-341630">
              <a:lnSpc>
                <a:spcPct val="100000"/>
              </a:lnSpc>
              <a:buAutoNum type="arabicPeriod"/>
              <a:tabLst>
                <a:tab pos="354330" algn="l"/>
              </a:tabLst>
            </a:pPr>
            <a:r>
              <a:rPr dirty="0" sz="2400">
                <a:latin typeface="Arial MT"/>
                <a:cs typeface="Arial MT"/>
              </a:rPr>
              <a:t>Backend</a:t>
            </a:r>
            <a:r>
              <a:rPr dirty="0" sz="2400" spc="-114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validates</a:t>
            </a:r>
            <a:r>
              <a:rPr dirty="0" sz="2400" spc="-10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credentials</a:t>
            </a:r>
            <a:r>
              <a:rPr dirty="0" sz="2400" spc="-9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and</a:t>
            </a:r>
            <a:r>
              <a:rPr dirty="0" sz="2400" spc="-114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generates</a:t>
            </a:r>
            <a:r>
              <a:rPr dirty="0" sz="2400" spc="-100">
                <a:latin typeface="Arial MT"/>
                <a:cs typeface="Arial MT"/>
              </a:rPr>
              <a:t> </a:t>
            </a:r>
            <a:r>
              <a:rPr dirty="0" sz="2400" spc="-20">
                <a:latin typeface="Arial MT"/>
                <a:cs typeface="Arial MT"/>
              </a:rPr>
              <a:t>JWT.</a:t>
            </a:r>
            <a:endParaRPr sz="24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buAutoNum type="arabicPeriod"/>
              <a:tabLst>
                <a:tab pos="354965" algn="l"/>
              </a:tabLst>
            </a:pPr>
            <a:r>
              <a:rPr dirty="0" sz="2400">
                <a:latin typeface="Arial MT"/>
                <a:cs typeface="Arial MT"/>
              </a:rPr>
              <a:t>User</a:t>
            </a:r>
            <a:r>
              <a:rPr dirty="0" sz="2400" spc="-10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requests</a:t>
            </a:r>
            <a:r>
              <a:rPr dirty="0" sz="2400" spc="-10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dashboard</a:t>
            </a:r>
            <a:r>
              <a:rPr dirty="0" sz="2400" spc="-80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data.</a:t>
            </a:r>
            <a:endParaRPr sz="2400">
              <a:latin typeface="Arial MT"/>
              <a:cs typeface="Arial MT"/>
            </a:endParaRPr>
          </a:p>
          <a:p>
            <a:pPr marL="354330" indent="-341630">
              <a:lnSpc>
                <a:spcPct val="100000"/>
              </a:lnSpc>
              <a:buAutoNum type="arabicPeriod"/>
              <a:tabLst>
                <a:tab pos="354330" algn="l"/>
              </a:tabLst>
            </a:pPr>
            <a:r>
              <a:rPr dirty="0" sz="2400">
                <a:latin typeface="Arial MT"/>
                <a:cs typeface="Arial MT"/>
              </a:rPr>
              <a:t>Backend</a:t>
            </a:r>
            <a:r>
              <a:rPr dirty="0" sz="2400" spc="-9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retrieves</a:t>
            </a:r>
            <a:r>
              <a:rPr dirty="0" sz="2400" spc="-9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academic,</a:t>
            </a:r>
            <a:r>
              <a:rPr dirty="0" sz="2400" spc="-8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attendance,</a:t>
            </a:r>
            <a:r>
              <a:rPr dirty="0" sz="2400" spc="-9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and</a:t>
            </a:r>
            <a:r>
              <a:rPr dirty="0" sz="2400" spc="-9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skill</a:t>
            </a:r>
            <a:r>
              <a:rPr dirty="0" sz="2400" spc="-90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records.</a:t>
            </a:r>
            <a:endParaRPr sz="2400">
              <a:latin typeface="Arial MT"/>
              <a:cs typeface="Arial MT"/>
            </a:endParaRPr>
          </a:p>
          <a:p>
            <a:pPr marL="354330" indent="-341630">
              <a:lnSpc>
                <a:spcPct val="100000"/>
              </a:lnSpc>
              <a:buAutoNum type="arabicPeriod"/>
              <a:tabLst>
                <a:tab pos="354330" algn="l"/>
              </a:tabLst>
            </a:pPr>
            <a:r>
              <a:rPr dirty="0" sz="2400">
                <a:latin typeface="Arial MT"/>
                <a:cs typeface="Arial MT"/>
              </a:rPr>
              <a:t>Adaptability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scores</a:t>
            </a:r>
            <a:r>
              <a:rPr dirty="0" sz="2400" spc="-9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are</a:t>
            </a:r>
            <a:r>
              <a:rPr dirty="0" sz="2400" spc="-95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calculated.</a:t>
            </a:r>
            <a:endParaRPr sz="24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buAutoNum type="arabicPeriod"/>
              <a:tabLst>
                <a:tab pos="354965" algn="l"/>
              </a:tabLst>
            </a:pPr>
            <a:r>
              <a:rPr dirty="0" sz="2400">
                <a:latin typeface="Arial MT"/>
                <a:cs typeface="Arial MT"/>
              </a:rPr>
              <a:t>Results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are</a:t>
            </a:r>
            <a:r>
              <a:rPr dirty="0" sz="2400" spc="-7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returned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to</a:t>
            </a:r>
            <a:r>
              <a:rPr dirty="0" sz="2400" spc="-80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frontend.</a:t>
            </a:r>
            <a:endParaRPr sz="2400">
              <a:latin typeface="Arial MT"/>
              <a:cs typeface="Arial MT"/>
            </a:endParaRPr>
          </a:p>
          <a:p>
            <a:pPr marL="354330" indent="-341630">
              <a:lnSpc>
                <a:spcPct val="100000"/>
              </a:lnSpc>
              <a:spcBef>
                <a:spcPts val="5"/>
              </a:spcBef>
              <a:buAutoNum type="arabicPeriod"/>
              <a:tabLst>
                <a:tab pos="354330" algn="l"/>
              </a:tabLst>
            </a:pPr>
            <a:r>
              <a:rPr dirty="0" sz="2400">
                <a:latin typeface="Arial MT"/>
                <a:cs typeface="Arial MT"/>
              </a:rPr>
              <a:t>Dashboard</a:t>
            </a:r>
            <a:r>
              <a:rPr dirty="0" sz="2400" spc="-11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visualizations</a:t>
            </a:r>
            <a:r>
              <a:rPr dirty="0" sz="2400" spc="-10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are</a:t>
            </a:r>
            <a:r>
              <a:rPr dirty="0" sz="2400" spc="-130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displayed.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b="1">
                <a:latin typeface="Calibri"/>
                <a:cs typeface="Calibri"/>
              </a:rPr>
              <a:t>ER</a:t>
            </a:r>
            <a:r>
              <a:rPr dirty="0" spc="-20" b="1">
                <a:latin typeface="Calibri"/>
                <a:cs typeface="Calibri"/>
              </a:rPr>
              <a:t> </a:t>
            </a:r>
            <a:r>
              <a:rPr dirty="0" spc="-10" b="1">
                <a:latin typeface="Calibri"/>
                <a:cs typeface="Calibri"/>
              </a:rPr>
              <a:t>DIAGRAM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02782" y="1467638"/>
            <a:ext cx="6903695" cy="469540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b="1">
                <a:latin typeface="Calibri"/>
                <a:cs typeface="Calibri"/>
              </a:rPr>
              <a:t>ENTITY</a:t>
            </a:r>
            <a:r>
              <a:rPr dirty="0" spc="-10" b="1">
                <a:latin typeface="Calibri"/>
                <a:cs typeface="Calibri"/>
              </a:rPr>
              <a:t> </a:t>
            </a:r>
            <a:r>
              <a:rPr dirty="0" spc="-25" b="1">
                <a:latin typeface="Calibri"/>
                <a:cs typeface="Calibri"/>
              </a:rPr>
              <a:t>RELATIONSHIPS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16939" y="1706841"/>
            <a:ext cx="9119235" cy="3605529"/>
          </a:xfrm>
          <a:prstGeom prst="rect">
            <a:avLst/>
          </a:prstGeom>
        </p:spPr>
        <p:txBody>
          <a:bodyPr wrap="square" lIns="0" tIns="98425" rIns="0" bIns="0" rtlCol="0" vert="horz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77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latin typeface="Calibri"/>
                <a:cs typeface="Calibri"/>
              </a:rPr>
              <a:t>One</a:t>
            </a:r>
            <a:r>
              <a:rPr dirty="0" sz="2800" spc="-4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User</a:t>
            </a:r>
            <a:r>
              <a:rPr dirty="0" sz="2800" spc="-5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can</a:t>
            </a:r>
            <a:r>
              <a:rPr dirty="0" sz="2800" spc="-5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be</a:t>
            </a:r>
            <a:r>
              <a:rPr dirty="0" sz="2800" spc="-4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one</a:t>
            </a:r>
            <a:r>
              <a:rPr dirty="0" sz="2800" spc="-5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Student</a:t>
            </a:r>
            <a:r>
              <a:rPr dirty="0" sz="2800" spc="-2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or</a:t>
            </a:r>
            <a:r>
              <a:rPr dirty="0" sz="2800" spc="-5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Mentor</a:t>
            </a:r>
            <a:r>
              <a:rPr dirty="0" sz="2800" spc="-3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or</a:t>
            </a:r>
            <a:r>
              <a:rPr dirty="0" sz="2800" spc="-5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Admin</a:t>
            </a:r>
            <a:endParaRPr sz="28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2800">
                <a:latin typeface="Calibri"/>
                <a:cs typeface="Calibri"/>
              </a:rPr>
              <a:t>One</a:t>
            </a:r>
            <a:r>
              <a:rPr dirty="0" sz="2800" spc="-9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Student</a:t>
            </a:r>
            <a:r>
              <a:rPr dirty="0" sz="2800" spc="-6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has</a:t>
            </a:r>
            <a:r>
              <a:rPr dirty="0" sz="2800" spc="-8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many</a:t>
            </a:r>
            <a:r>
              <a:rPr dirty="0" sz="2800" spc="-9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Marks</a:t>
            </a:r>
            <a:r>
              <a:rPr dirty="0" sz="2800" spc="-8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records</a:t>
            </a:r>
            <a:endParaRPr sz="28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660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2800">
                <a:latin typeface="Calibri"/>
                <a:cs typeface="Calibri"/>
              </a:rPr>
              <a:t>One</a:t>
            </a:r>
            <a:r>
              <a:rPr dirty="0" sz="2800" spc="-8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Student</a:t>
            </a:r>
            <a:r>
              <a:rPr dirty="0" sz="2800" spc="-5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has</a:t>
            </a:r>
            <a:r>
              <a:rPr dirty="0" sz="2800" spc="-7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many</a:t>
            </a:r>
            <a:r>
              <a:rPr dirty="0" sz="2800" spc="-6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SkillProgress</a:t>
            </a:r>
            <a:r>
              <a:rPr dirty="0" sz="2800" spc="-5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entries</a:t>
            </a:r>
            <a:endParaRPr sz="28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665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2800">
                <a:latin typeface="Calibri"/>
                <a:cs typeface="Calibri"/>
              </a:rPr>
              <a:t>One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Student</a:t>
            </a:r>
            <a:r>
              <a:rPr dirty="0" sz="2800" spc="-4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has</a:t>
            </a:r>
            <a:r>
              <a:rPr dirty="0" sz="2800" spc="-6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one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 spc="-20">
                <a:latin typeface="Calibri"/>
                <a:cs typeface="Calibri"/>
              </a:rPr>
              <a:t>Attendance</a:t>
            </a:r>
            <a:r>
              <a:rPr dirty="0" sz="2800" spc="-5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summary</a:t>
            </a:r>
            <a:endParaRPr sz="28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670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2800">
                <a:latin typeface="Calibri"/>
                <a:cs typeface="Calibri"/>
              </a:rPr>
              <a:t>One</a:t>
            </a:r>
            <a:r>
              <a:rPr dirty="0" sz="2800" spc="-8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Student</a:t>
            </a:r>
            <a:r>
              <a:rPr dirty="0" sz="2800" spc="-5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has</a:t>
            </a:r>
            <a:r>
              <a:rPr dirty="0" sz="2800" spc="-8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one</a:t>
            </a:r>
            <a:r>
              <a:rPr dirty="0" sz="2800" spc="-8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Adaptability</a:t>
            </a:r>
            <a:r>
              <a:rPr dirty="0" sz="2800" spc="-5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record</a:t>
            </a:r>
            <a:r>
              <a:rPr dirty="0" sz="2800" spc="-9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per</a:t>
            </a:r>
            <a:r>
              <a:rPr dirty="0" sz="2800" spc="-9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semester</a:t>
            </a:r>
            <a:r>
              <a:rPr dirty="0" sz="2800" spc="-8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period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60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latin typeface="Calibri"/>
                <a:cs typeface="Calibri"/>
              </a:rPr>
              <a:t>One</a:t>
            </a:r>
            <a:r>
              <a:rPr dirty="0" sz="2800" spc="-9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Mentor</a:t>
            </a:r>
            <a:r>
              <a:rPr dirty="0" sz="2800" spc="-9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supervises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many</a:t>
            </a:r>
            <a:r>
              <a:rPr dirty="0" sz="2800" spc="-10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Students</a:t>
            </a:r>
            <a:endParaRPr sz="28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665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2800">
                <a:latin typeface="Calibri"/>
                <a:cs typeface="Calibri"/>
              </a:rPr>
              <a:t>One</a:t>
            </a:r>
            <a:r>
              <a:rPr dirty="0" sz="2800" spc="-9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Student</a:t>
            </a:r>
            <a:r>
              <a:rPr dirty="0" sz="2800" spc="-6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can</a:t>
            </a:r>
            <a:r>
              <a:rPr dirty="0" sz="2800" spc="-10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have</a:t>
            </a:r>
            <a:r>
              <a:rPr dirty="0" sz="2800" spc="-9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many</a:t>
            </a:r>
            <a:r>
              <a:rPr dirty="0" sz="2800" spc="-8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MentorNotes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 spc="-10" b="1">
                <a:latin typeface="Calibri"/>
                <a:cs typeface="Calibri"/>
              </a:rPr>
              <a:t>Database</a:t>
            </a:r>
            <a:r>
              <a:rPr dirty="0" sz="4000" spc="-130" b="1">
                <a:latin typeface="Calibri"/>
                <a:cs typeface="Calibri"/>
              </a:rPr>
              <a:t> </a:t>
            </a:r>
            <a:r>
              <a:rPr dirty="0" sz="4000" b="1">
                <a:latin typeface="Calibri"/>
                <a:cs typeface="Calibri"/>
              </a:rPr>
              <a:t>Schema</a:t>
            </a:r>
            <a:r>
              <a:rPr dirty="0" sz="4000" spc="-155" b="1">
                <a:latin typeface="Calibri"/>
                <a:cs typeface="Calibri"/>
              </a:rPr>
              <a:t> </a:t>
            </a:r>
            <a:r>
              <a:rPr dirty="0" sz="4000" spc="-10" b="1">
                <a:latin typeface="Calibri"/>
                <a:cs typeface="Calibri"/>
              </a:rPr>
              <a:t>Design</a:t>
            </a:r>
            <a:endParaRPr sz="4000">
              <a:latin typeface="Calibri"/>
              <a:cs typeface="Calibri"/>
            </a:endParaRPr>
          </a:p>
        </p:txBody>
      </p:sp>
      <p:graphicFrame>
        <p:nvGraphicFramePr>
          <p:cNvPr id="3" name="object 3" descr=""/>
          <p:cNvGraphicFramePr>
            <a:graphicFrameLocks noGrp="1"/>
          </p:cNvGraphicFramePr>
          <p:nvPr/>
        </p:nvGraphicFramePr>
        <p:xfrm>
          <a:off x="831850" y="2030729"/>
          <a:ext cx="10604500" cy="38036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28900"/>
                <a:gridCol w="2628900"/>
                <a:gridCol w="2628900"/>
                <a:gridCol w="2628900"/>
              </a:tblGrid>
              <a:tr h="380365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dirty="0" sz="2400" spc="-20" b="1">
                          <a:latin typeface="Calibri"/>
                          <a:cs typeface="Calibri"/>
                        </a:rPr>
                        <a:t>User</a:t>
                      </a:r>
                      <a:endParaRPr sz="2400">
                        <a:latin typeface="Calibri"/>
                        <a:cs typeface="Calibri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  <a:p>
                      <a:pPr marL="91440" marR="716915">
                        <a:lnSpc>
                          <a:spcPct val="100000"/>
                        </a:lnSpc>
                      </a:pPr>
                      <a:r>
                        <a:rPr dirty="0" sz="20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_id</a:t>
                      </a:r>
                      <a:r>
                        <a:rPr dirty="0" sz="20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:</a:t>
                      </a:r>
                      <a:r>
                        <a:rPr dirty="0" sz="20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ObjectId </a:t>
                      </a:r>
                      <a:r>
                        <a:rPr dirty="0" sz="20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name</a:t>
                      </a:r>
                      <a:r>
                        <a:rPr dirty="0" sz="2000" spc="-3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:</a:t>
                      </a:r>
                      <a:r>
                        <a:rPr dirty="0" sz="2000" spc="-1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String </a:t>
                      </a:r>
                      <a:r>
                        <a:rPr dirty="0" sz="20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email</a:t>
                      </a:r>
                      <a:r>
                        <a:rPr dirty="0" sz="2000" spc="-1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:</a:t>
                      </a:r>
                      <a:r>
                        <a:rPr dirty="0" sz="20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String </a:t>
                      </a:r>
                      <a:r>
                        <a:rPr dirty="0" sz="20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password</a:t>
                      </a:r>
                      <a:r>
                        <a:rPr dirty="0" sz="2000" spc="-6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:</a:t>
                      </a:r>
                      <a:r>
                        <a:rPr dirty="0" sz="2000" spc="-5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String </a:t>
                      </a:r>
                      <a:r>
                        <a:rPr dirty="0" sz="20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role</a:t>
                      </a:r>
                      <a:r>
                        <a:rPr dirty="0" sz="2000" spc="-3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:</a:t>
                      </a:r>
                      <a:r>
                        <a:rPr dirty="0" sz="2000" spc="-2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String</a:t>
                      </a:r>
                      <a:endParaRPr sz="2000">
                        <a:latin typeface="Calibri"/>
                        <a:cs typeface="Calibri"/>
                      </a:endParaRPr>
                    </a:p>
                    <a:p>
                      <a:pPr marL="91440" marR="12382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20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(Admin/Mentor/Stude </a:t>
                      </a:r>
                      <a:r>
                        <a:rPr dirty="0" sz="2000" spc="-2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nt)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B="0" marT="26034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A4A4A4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dirty="0" sz="2400" spc="-10" b="1">
                          <a:latin typeface="Calibri"/>
                          <a:cs typeface="Calibri"/>
                        </a:rPr>
                        <a:t>Student</a:t>
                      </a:r>
                      <a:endParaRPr sz="2400">
                        <a:latin typeface="Calibri"/>
                        <a:cs typeface="Calibri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  <a:p>
                      <a:pPr marL="92075" marR="455295">
                        <a:lnSpc>
                          <a:spcPct val="100000"/>
                        </a:lnSpc>
                      </a:pPr>
                      <a:r>
                        <a:rPr dirty="0" sz="20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_id</a:t>
                      </a:r>
                      <a:r>
                        <a:rPr dirty="0" sz="20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:</a:t>
                      </a:r>
                      <a:r>
                        <a:rPr dirty="0" sz="2000" spc="-1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ObjectId </a:t>
                      </a:r>
                      <a:r>
                        <a:rPr dirty="0" sz="20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registerNo</a:t>
                      </a:r>
                      <a:r>
                        <a:rPr dirty="0" sz="2000" spc="-5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:</a:t>
                      </a:r>
                      <a:r>
                        <a:rPr dirty="0" sz="2000" spc="-5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String </a:t>
                      </a:r>
                      <a:r>
                        <a:rPr dirty="0" sz="20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department</a:t>
                      </a:r>
                      <a:r>
                        <a:rPr dirty="0" sz="2000" spc="-5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:</a:t>
                      </a:r>
                      <a:r>
                        <a:rPr dirty="0" sz="2000" spc="-4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String </a:t>
                      </a:r>
                      <a:r>
                        <a:rPr dirty="0" sz="20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batch</a:t>
                      </a:r>
                      <a:r>
                        <a:rPr dirty="0" sz="2000" spc="-4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:</a:t>
                      </a:r>
                      <a:r>
                        <a:rPr dirty="0" sz="2000" spc="-2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String </a:t>
                      </a:r>
                      <a:r>
                        <a:rPr dirty="0" sz="20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mentorId</a:t>
                      </a:r>
                      <a:r>
                        <a:rPr dirty="0" sz="2000" spc="-6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:</a:t>
                      </a:r>
                      <a:r>
                        <a:rPr dirty="0" sz="2000" spc="-3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ObjectId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B="0" marT="26034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A4A4A4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dirty="0" sz="2400" spc="-10" b="1">
                          <a:latin typeface="Calibri"/>
                          <a:cs typeface="Calibri"/>
                        </a:rPr>
                        <a:t>Marks</a:t>
                      </a:r>
                      <a:endParaRPr sz="2400">
                        <a:latin typeface="Calibri"/>
                        <a:cs typeface="Calibri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dirty="0" sz="20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studentId</a:t>
                      </a:r>
                      <a:r>
                        <a:rPr dirty="0" sz="2000" spc="-5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:</a:t>
                      </a:r>
                      <a:r>
                        <a:rPr dirty="0" sz="2000" spc="-3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ObjectId</a:t>
                      </a:r>
                      <a:endParaRPr sz="2000">
                        <a:latin typeface="Calibri"/>
                        <a:cs typeface="Calibri"/>
                      </a:endParaRPr>
                    </a:p>
                    <a:p>
                      <a:pPr marL="92075" marR="96456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20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subject</a:t>
                      </a:r>
                      <a:r>
                        <a:rPr dirty="0" sz="2000" spc="-4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:</a:t>
                      </a:r>
                      <a:r>
                        <a:rPr dirty="0" sz="2000" spc="-1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String </a:t>
                      </a:r>
                      <a:r>
                        <a:rPr dirty="0" sz="20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pt1</a:t>
                      </a:r>
                      <a:r>
                        <a:rPr dirty="0" sz="20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:</a:t>
                      </a:r>
                      <a:r>
                        <a:rPr dirty="0" sz="2000" spc="-1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Number </a:t>
                      </a:r>
                      <a:r>
                        <a:rPr dirty="0" sz="20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pt2</a:t>
                      </a:r>
                      <a:r>
                        <a:rPr dirty="0" sz="20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:</a:t>
                      </a:r>
                      <a:r>
                        <a:rPr dirty="0" sz="2000" spc="-1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Number</a:t>
                      </a:r>
                      <a:endParaRPr sz="2000">
                        <a:latin typeface="Calibri"/>
                        <a:cs typeface="Calibri"/>
                      </a:endParaRPr>
                    </a:p>
                    <a:p>
                      <a:pPr marL="92075" marR="207010">
                        <a:lnSpc>
                          <a:spcPct val="100000"/>
                        </a:lnSpc>
                      </a:pPr>
                      <a:r>
                        <a:rPr dirty="0" sz="20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semesterNo</a:t>
                      </a:r>
                      <a:r>
                        <a:rPr dirty="0" sz="2000" spc="-6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:</a:t>
                      </a:r>
                      <a:r>
                        <a:rPr dirty="0" sz="2000" spc="-4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Number </a:t>
                      </a:r>
                      <a:r>
                        <a:rPr dirty="0" sz="20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semester</a:t>
                      </a:r>
                      <a:r>
                        <a:rPr dirty="0" sz="2000" spc="-6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:</a:t>
                      </a:r>
                      <a:r>
                        <a:rPr dirty="0" sz="2000" spc="-5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Number </a:t>
                      </a:r>
                      <a:r>
                        <a:rPr dirty="0" sz="20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internal</a:t>
                      </a:r>
                      <a:r>
                        <a:rPr dirty="0" sz="2000" spc="-4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:</a:t>
                      </a:r>
                      <a:r>
                        <a:rPr dirty="0" sz="2000" spc="-3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Number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B="0" marT="26034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A4A4A4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dirty="0" sz="1800" spc="-10" b="1">
                          <a:latin typeface="Calibri"/>
                          <a:cs typeface="Calibri"/>
                        </a:rPr>
                        <a:t>MentorNotes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92075" marR="178435">
                        <a:lnSpc>
                          <a:spcPct val="100000"/>
                        </a:lnSpc>
                        <a:tabLst>
                          <a:tab pos="2223135" algn="l"/>
                        </a:tabLst>
                      </a:pPr>
                      <a:r>
                        <a:rPr dirty="0" sz="20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_id</a:t>
                      </a:r>
                      <a:r>
                        <a:rPr dirty="0" sz="20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:</a:t>
                      </a:r>
                      <a:r>
                        <a:rPr dirty="0" sz="2000" spc="-1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ObjectId </a:t>
                      </a:r>
                      <a:r>
                        <a:rPr dirty="0" sz="20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studentId</a:t>
                      </a:r>
                      <a:r>
                        <a:rPr dirty="0" sz="2000" spc="-6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:</a:t>
                      </a:r>
                      <a:r>
                        <a:rPr dirty="0" sz="2000" spc="-4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ObjectId </a:t>
                      </a:r>
                      <a:r>
                        <a:rPr dirty="0" sz="20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mentorId</a:t>
                      </a:r>
                      <a:r>
                        <a:rPr dirty="0" sz="2000" spc="-6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:</a:t>
                      </a:r>
                      <a:r>
                        <a:rPr dirty="0" sz="2000" spc="-3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ObjectId </a:t>
                      </a:r>
                      <a:r>
                        <a:rPr dirty="0" sz="20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note</a:t>
                      </a:r>
                      <a:r>
                        <a:rPr dirty="0" sz="2000" spc="-4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:</a:t>
                      </a:r>
                      <a:r>
                        <a:rPr dirty="0" sz="20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String actionType</a:t>
                      </a:r>
                      <a:r>
                        <a:rPr dirty="0" sz="2000" spc="-4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:</a:t>
                      </a:r>
                      <a:r>
                        <a:rPr dirty="0" sz="2000" spc="-3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String</a:t>
                      </a:r>
                      <a:r>
                        <a:rPr dirty="0" sz="20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2000" spc="-2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// </a:t>
                      </a:r>
                      <a:r>
                        <a:rPr dirty="0" sz="20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Advice</a:t>
                      </a:r>
                      <a:r>
                        <a:rPr dirty="0" sz="2000" spc="-5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/</a:t>
                      </a:r>
                      <a:r>
                        <a:rPr dirty="0" sz="2000" spc="-5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Warning</a:t>
                      </a:r>
                      <a:r>
                        <a:rPr dirty="0" sz="2000" spc="-4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 spc="-5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/ </a:t>
                      </a:r>
                      <a:r>
                        <a:rPr dirty="0" sz="20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Follow-</a:t>
                      </a:r>
                      <a:r>
                        <a:rPr dirty="0" sz="2000" spc="-2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up</a:t>
                      </a:r>
                      <a:endParaRPr sz="2000">
                        <a:latin typeface="Calibri"/>
                        <a:cs typeface="Calibri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20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date</a:t>
                      </a:r>
                      <a:r>
                        <a:rPr dirty="0" sz="2000" spc="-4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:</a:t>
                      </a:r>
                      <a:r>
                        <a:rPr dirty="0" sz="2000" spc="-3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Date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B="0" marT="3111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A4A4A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 descr=""/>
          <p:cNvGraphicFramePr>
            <a:graphicFrameLocks noGrp="1"/>
          </p:cNvGraphicFramePr>
          <p:nvPr/>
        </p:nvGraphicFramePr>
        <p:xfrm>
          <a:off x="930465" y="949197"/>
          <a:ext cx="10604500" cy="51276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505200"/>
                <a:gridCol w="3505200"/>
                <a:gridCol w="3505200"/>
              </a:tblGrid>
              <a:tr h="512762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1800" spc="-10" b="1">
                          <a:latin typeface="Calibri"/>
                          <a:cs typeface="Calibri"/>
                        </a:rPr>
                        <a:t>SkillProgress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91440" marR="462915">
                        <a:lnSpc>
                          <a:spcPct val="100000"/>
                        </a:lnSpc>
                      </a:pPr>
                      <a:r>
                        <a:rPr dirty="0" sz="24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studentId</a:t>
                      </a:r>
                      <a:r>
                        <a:rPr dirty="0" sz="2400" spc="-6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4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:</a:t>
                      </a:r>
                      <a:r>
                        <a:rPr dirty="0" sz="2400" spc="-9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4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ObjectId rewardPoints</a:t>
                      </a:r>
                      <a:r>
                        <a:rPr dirty="0" sz="2400" spc="-5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4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:</a:t>
                      </a:r>
                      <a:r>
                        <a:rPr dirty="0" sz="2400" spc="-5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4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Number levelsCompleted</a:t>
                      </a:r>
                      <a:r>
                        <a:rPr dirty="0" sz="2400" spc="-6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400" spc="-5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:</a:t>
                      </a:r>
                      <a:endParaRPr sz="2400">
                        <a:latin typeface="Calibri"/>
                        <a:cs typeface="Calibri"/>
                      </a:endParaRPr>
                    </a:p>
                    <a:p>
                      <a:pPr marL="91440" marR="135572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24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Number category</a:t>
                      </a:r>
                      <a:r>
                        <a:rPr dirty="0" sz="2400" spc="-6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4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:</a:t>
                      </a:r>
                      <a:r>
                        <a:rPr dirty="0" sz="2400" spc="-3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4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String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B="0" marT="3048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A4A4A4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1800" spc="-10" b="1">
                          <a:latin typeface="Calibri"/>
                          <a:cs typeface="Calibri"/>
                        </a:rPr>
                        <a:t>Attendance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92075" marR="690245">
                        <a:lnSpc>
                          <a:spcPct val="100000"/>
                        </a:lnSpc>
                      </a:pPr>
                      <a:r>
                        <a:rPr dirty="0" sz="24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studentId</a:t>
                      </a:r>
                      <a:r>
                        <a:rPr dirty="0" sz="2400" spc="-6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4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:</a:t>
                      </a:r>
                      <a:r>
                        <a:rPr dirty="0" sz="2400" spc="-9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4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ObjectId percentage</a:t>
                      </a:r>
                      <a:r>
                        <a:rPr dirty="0" sz="2400" spc="-5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4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:</a:t>
                      </a:r>
                      <a:r>
                        <a:rPr dirty="0" sz="2400" spc="-4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4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Number semesterNo:</a:t>
                      </a:r>
                      <a:r>
                        <a:rPr dirty="0" sz="2400" spc="-3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4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Number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B="0" marT="3048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A4A4A4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1800" spc="-10" b="1">
                          <a:latin typeface="Calibri"/>
                          <a:cs typeface="Calibri"/>
                        </a:rPr>
                        <a:t>Adaptability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92075" marR="260985">
                        <a:lnSpc>
                          <a:spcPct val="100000"/>
                        </a:lnSpc>
                      </a:pPr>
                      <a:r>
                        <a:rPr dirty="0" sz="24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studentId</a:t>
                      </a:r>
                      <a:r>
                        <a:rPr dirty="0" sz="2400" spc="-6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4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:</a:t>
                      </a:r>
                      <a:r>
                        <a:rPr dirty="0" sz="2400" spc="-9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4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ObjectId </a:t>
                      </a:r>
                      <a:r>
                        <a:rPr dirty="0" sz="24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academicScore</a:t>
                      </a:r>
                      <a:r>
                        <a:rPr dirty="0" sz="2400" spc="-8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4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:</a:t>
                      </a:r>
                      <a:r>
                        <a:rPr dirty="0" sz="2400" spc="-5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4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Number </a:t>
                      </a:r>
                      <a:r>
                        <a:rPr dirty="0" sz="24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skillScore</a:t>
                      </a:r>
                      <a:r>
                        <a:rPr dirty="0" sz="2400" spc="-5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4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:</a:t>
                      </a:r>
                      <a:r>
                        <a:rPr dirty="0" sz="2400" spc="-4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4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Number attendanceScore</a:t>
                      </a:r>
                      <a:r>
                        <a:rPr dirty="0" sz="2400" spc="-1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400" spc="-5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:</a:t>
                      </a:r>
                      <a:endParaRPr sz="2400">
                        <a:latin typeface="Calibri"/>
                        <a:cs typeface="Calibri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24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Number</a:t>
                      </a:r>
                      <a:endParaRPr sz="2400">
                        <a:latin typeface="Calibri"/>
                        <a:cs typeface="Calibri"/>
                      </a:endParaRPr>
                    </a:p>
                    <a:p>
                      <a:pPr marL="92075" marR="354965">
                        <a:lnSpc>
                          <a:spcPct val="100000"/>
                        </a:lnSpc>
                      </a:pPr>
                      <a:r>
                        <a:rPr dirty="0" sz="24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deadlineScore</a:t>
                      </a:r>
                      <a:r>
                        <a:rPr dirty="0" sz="2400" spc="-2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4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:</a:t>
                      </a:r>
                      <a:r>
                        <a:rPr dirty="0" sz="24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Number recoveryScore</a:t>
                      </a:r>
                      <a:r>
                        <a:rPr dirty="0" sz="2400" spc="-4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4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:</a:t>
                      </a:r>
                      <a:r>
                        <a:rPr dirty="0" sz="24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4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Number overallScore</a:t>
                      </a:r>
                      <a:r>
                        <a:rPr dirty="0" sz="2400" spc="-6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4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:</a:t>
                      </a:r>
                      <a:r>
                        <a:rPr dirty="0" sz="2400" spc="-4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4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Number </a:t>
                      </a:r>
                      <a:r>
                        <a:rPr dirty="0" sz="24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level</a:t>
                      </a:r>
                      <a:r>
                        <a:rPr dirty="0" sz="2400" spc="-4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4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:</a:t>
                      </a:r>
                      <a:r>
                        <a:rPr dirty="0" sz="2400" spc="-5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4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String semesterNo</a:t>
                      </a:r>
                      <a:r>
                        <a:rPr dirty="0" sz="2400" spc="-3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4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:</a:t>
                      </a:r>
                      <a:r>
                        <a:rPr dirty="0" sz="2400" spc="-1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4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Number calculatedAt</a:t>
                      </a:r>
                      <a:r>
                        <a:rPr dirty="0" sz="2400" spc="-3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4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:</a:t>
                      </a:r>
                      <a:r>
                        <a:rPr dirty="0" sz="24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Date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B="0" marT="3048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A4A4A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 b="1">
                <a:latin typeface="Calibri"/>
                <a:cs typeface="Calibri"/>
              </a:rPr>
              <a:t>UI</a:t>
            </a:r>
            <a:r>
              <a:rPr dirty="0" sz="4000" spc="-135" b="1">
                <a:latin typeface="Calibri"/>
                <a:cs typeface="Calibri"/>
              </a:rPr>
              <a:t> </a:t>
            </a:r>
            <a:r>
              <a:rPr dirty="0" sz="4000" spc="-10" b="1">
                <a:latin typeface="Calibri"/>
                <a:cs typeface="Calibri"/>
              </a:rPr>
              <a:t>Interface</a:t>
            </a:r>
            <a:r>
              <a:rPr dirty="0" sz="4000" spc="-120" b="1">
                <a:latin typeface="Calibri"/>
                <a:cs typeface="Calibri"/>
              </a:rPr>
              <a:t> </a:t>
            </a:r>
            <a:r>
              <a:rPr dirty="0" sz="4000" spc="-10" b="1">
                <a:latin typeface="Calibri"/>
                <a:cs typeface="Calibri"/>
              </a:rPr>
              <a:t>Designs</a:t>
            </a:r>
            <a:endParaRPr sz="4000">
              <a:latin typeface="Calibri"/>
              <a:cs typeface="Calibri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916939" y="1793189"/>
            <a:ext cx="1783714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>
                <a:latin typeface="Calibri"/>
                <a:cs typeface="Calibri"/>
              </a:rPr>
              <a:t>LOGIN</a:t>
            </a:r>
            <a:r>
              <a:rPr dirty="0" sz="2800" spc="-60">
                <a:latin typeface="Calibri"/>
                <a:cs typeface="Calibri"/>
              </a:rPr>
              <a:t> </a:t>
            </a:r>
            <a:r>
              <a:rPr dirty="0" sz="2800" spc="-55">
                <a:latin typeface="Calibri"/>
                <a:cs typeface="Calibri"/>
              </a:rPr>
              <a:t>PAGE</a:t>
            </a:r>
            <a:endParaRPr sz="2800">
              <a:latin typeface="Calibri"/>
              <a:cs typeface="Calibri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23715" y="1519427"/>
            <a:ext cx="7615428" cy="4963668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8263" y="1082039"/>
            <a:ext cx="11015471" cy="469392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8200" y="1266444"/>
            <a:ext cx="10515600" cy="429006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8200" y="1147572"/>
            <a:ext cx="10515600" cy="4509516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8912" y="1193291"/>
            <a:ext cx="11062716" cy="4672584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794004"/>
            <a:ext cx="12191999" cy="5269992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6908" y="687323"/>
            <a:ext cx="11216640" cy="5782056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761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b="1">
                <a:solidFill>
                  <a:srgbClr val="1F2937"/>
                </a:solidFill>
                <a:latin typeface="Calibri"/>
                <a:cs typeface="Calibri"/>
              </a:rPr>
              <a:t>Project</a:t>
            </a:r>
            <a:r>
              <a:rPr dirty="0" spc="-105" b="1">
                <a:solidFill>
                  <a:srgbClr val="1F2937"/>
                </a:solidFill>
                <a:latin typeface="Calibri"/>
                <a:cs typeface="Calibri"/>
              </a:rPr>
              <a:t> </a:t>
            </a:r>
            <a:r>
              <a:rPr dirty="0" b="1">
                <a:solidFill>
                  <a:srgbClr val="1F2937"/>
                </a:solidFill>
                <a:latin typeface="Calibri"/>
                <a:cs typeface="Calibri"/>
              </a:rPr>
              <a:t>Boilerplate</a:t>
            </a:r>
            <a:r>
              <a:rPr dirty="0" spc="-85" b="1">
                <a:solidFill>
                  <a:srgbClr val="1F2937"/>
                </a:solidFill>
                <a:latin typeface="Calibri"/>
                <a:cs typeface="Calibri"/>
              </a:rPr>
              <a:t> </a:t>
            </a:r>
            <a:r>
              <a:rPr dirty="0" spc="-10" b="1">
                <a:solidFill>
                  <a:srgbClr val="1F2937"/>
                </a:solidFill>
                <a:latin typeface="Calibri"/>
                <a:cs typeface="Calibri"/>
              </a:rPr>
              <a:t>Setup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55648" y="1825751"/>
            <a:ext cx="8680704" cy="435102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25"/>
              <a:t>Benefits</a:t>
            </a:r>
            <a:r>
              <a:rPr dirty="0" spc="-165"/>
              <a:t> </a:t>
            </a:r>
            <a:r>
              <a:rPr dirty="0"/>
              <a:t>of</a:t>
            </a:r>
            <a:r>
              <a:rPr dirty="0" spc="-145"/>
              <a:t> </a:t>
            </a:r>
            <a:r>
              <a:rPr dirty="0"/>
              <a:t>the</a:t>
            </a:r>
            <a:r>
              <a:rPr dirty="0" spc="-150"/>
              <a:t> </a:t>
            </a:r>
            <a:r>
              <a:rPr dirty="0" spc="-35"/>
              <a:t>System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16939" y="1730019"/>
            <a:ext cx="3812540" cy="4366260"/>
          </a:xfrm>
          <a:prstGeom prst="rect">
            <a:avLst/>
          </a:prstGeom>
        </p:spPr>
        <p:txBody>
          <a:bodyPr wrap="square" lIns="0" tIns="38735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30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200" b="1">
                <a:latin typeface="Calibri"/>
                <a:cs typeface="Calibri"/>
              </a:rPr>
              <a:t>For</a:t>
            </a:r>
            <a:r>
              <a:rPr dirty="0" sz="2200" spc="-50" b="1">
                <a:latin typeface="Calibri"/>
                <a:cs typeface="Calibri"/>
              </a:rPr>
              <a:t> </a:t>
            </a:r>
            <a:r>
              <a:rPr dirty="0" sz="2200" spc="-10" b="1">
                <a:latin typeface="Calibri"/>
                <a:cs typeface="Calibri"/>
              </a:rPr>
              <a:t>Students:</a:t>
            </a:r>
            <a:endParaRPr sz="22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209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200" spc="-20">
                <a:latin typeface="Calibri"/>
                <a:cs typeface="Calibri"/>
              </a:rPr>
              <a:t>Self-</a:t>
            </a:r>
            <a:r>
              <a:rPr dirty="0" sz="2200" spc="-10">
                <a:latin typeface="Calibri"/>
                <a:cs typeface="Calibri"/>
              </a:rPr>
              <a:t>awareness</a:t>
            </a:r>
            <a:endParaRPr sz="22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20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200">
                <a:latin typeface="Calibri"/>
                <a:cs typeface="Calibri"/>
              </a:rPr>
              <a:t>Goal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tracking</a:t>
            </a:r>
            <a:endParaRPr sz="22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219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200">
                <a:latin typeface="Calibri"/>
                <a:cs typeface="Calibri"/>
              </a:rPr>
              <a:t>Early</a:t>
            </a:r>
            <a:r>
              <a:rPr dirty="0" sz="2200" spc="-6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improvement</a:t>
            </a:r>
            <a:endParaRPr sz="22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20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200" b="1">
                <a:latin typeface="Calibri"/>
                <a:cs typeface="Calibri"/>
              </a:rPr>
              <a:t>For</a:t>
            </a:r>
            <a:r>
              <a:rPr dirty="0" sz="2200" spc="-50" b="1">
                <a:latin typeface="Calibri"/>
                <a:cs typeface="Calibri"/>
              </a:rPr>
              <a:t> </a:t>
            </a:r>
            <a:r>
              <a:rPr dirty="0" sz="2200" spc="-10" b="1">
                <a:latin typeface="Calibri"/>
                <a:cs typeface="Calibri"/>
              </a:rPr>
              <a:t>Mentors:</a:t>
            </a:r>
            <a:endParaRPr sz="22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209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200">
                <a:latin typeface="Calibri"/>
                <a:cs typeface="Calibri"/>
              </a:rPr>
              <a:t>Reduced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manual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analysis</a:t>
            </a:r>
            <a:endParaRPr sz="22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21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200" spc="-30">
                <a:latin typeface="Calibri"/>
                <a:cs typeface="Calibri"/>
              </a:rPr>
              <a:t>Targeted</a:t>
            </a:r>
            <a:r>
              <a:rPr dirty="0" sz="2200" spc="-8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mentoring</a:t>
            </a:r>
            <a:endParaRPr sz="22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204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200">
                <a:latin typeface="Calibri"/>
                <a:cs typeface="Calibri"/>
              </a:rPr>
              <a:t>Better</a:t>
            </a:r>
            <a:r>
              <a:rPr dirty="0" sz="2200" spc="-8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performance</a:t>
            </a:r>
            <a:r>
              <a:rPr dirty="0" sz="2200" spc="-10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monitoring</a:t>
            </a:r>
            <a:endParaRPr sz="22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204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200" b="1">
                <a:latin typeface="Calibri"/>
                <a:cs typeface="Calibri"/>
              </a:rPr>
              <a:t>For</a:t>
            </a:r>
            <a:r>
              <a:rPr dirty="0" sz="2200" spc="-50" b="1">
                <a:latin typeface="Calibri"/>
                <a:cs typeface="Calibri"/>
              </a:rPr>
              <a:t> </a:t>
            </a:r>
            <a:r>
              <a:rPr dirty="0" sz="2200" spc="-10" b="1">
                <a:latin typeface="Calibri"/>
                <a:cs typeface="Calibri"/>
              </a:rPr>
              <a:t>Institution:</a:t>
            </a:r>
            <a:endParaRPr sz="22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21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200">
                <a:latin typeface="Calibri"/>
                <a:cs typeface="Calibri"/>
              </a:rPr>
              <a:t>Improved</a:t>
            </a:r>
            <a:r>
              <a:rPr dirty="0" sz="2200" spc="-9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adaptability</a:t>
            </a:r>
            <a:r>
              <a:rPr dirty="0" sz="2200" spc="-10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tracking</a:t>
            </a:r>
            <a:endParaRPr sz="22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204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200" spc="-20">
                <a:latin typeface="Calibri"/>
                <a:cs typeface="Calibri"/>
              </a:rPr>
              <a:t>Data-</a:t>
            </a:r>
            <a:r>
              <a:rPr dirty="0" sz="2200">
                <a:latin typeface="Calibri"/>
                <a:cs typeface="Calibri"/>
              </a:rPr>
              <a:t>driven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decision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making</a:t>
            </a:r>
            <a:endParaRPr sz="22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204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200">
                <a:latin typeface="Calibri"/>
                <a:cs typeface="Calibri"/>
              </a:rPr>
              <a:t>Early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academic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intervention</a:t>
            </a:r>
            <a:endParaRPr sz="2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30"/>
              <a:t>Conclusion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16939" y="1706841"/>
            <a:ext cx="8992235" cy="3605529"/>
          </a:xfrm>
          <a:prstGeom prst="rect">
            <a:avLst/>
          </a:prstGeom>
        </p:spPr>
        <p:txBody>
          <a:bodyPr wrap="square" lIns="0" tIns="98425" rIns="0" bIns="0" rtlCol="0" vert="horz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77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-9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Student</a:t>
            </a:r>
            <a:r>
              <a:rPr dirty="0" sz="2800" spc="-6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Learning</a:t>
            </a:r>
            <a:r>
              <a:rPr dirty="0" sz="2800" spc="-9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Adaptability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Assessment</a:t>
            </a:r>
            <a:r>
              <a:rPr dirty="0" sz="2800" spc="-5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Tool:</a:t>
            </a:r>
            <a:endParaRPr sz="28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2800" spc="-20">
                <a:latin typeface="Calibri"/>
                <a:cs typeface="Calibri"/>
              </a:rPr>
              <a:t>Integrates</a:t>
            </a:r>
            <a:r>
              <a:rPr dirty="0" sz="2800" spc="-10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academic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and</a:t>
            </a:r>
            <a:r>
              <a:rPr dirty="0" sz="2800" spc="-8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engagement</a:t>
            </a:r>
            <a:r>
              <a:rPr dirty="0" sz="2800" spc="-9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parameters</a:t>
            </a:r>
            <a:endParaRPr sz="28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660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2800">
                <a:latin typeface="Calibri"/>
                <a:cs typeface="Calibri"/>
              </a:rPr>
              <a:t>Provides</a:t>
            </a:r>
            <a:r>
              <a:rPr dirty="0" sz="2800" spc="-10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structured</a:t>
            </a:r>
            <a:r>
              <a:rPr dirty="0" sz="2800" spc="-90">
                <a:latin typeface="Calibri"/>
                <a:cs typeface="Calibri"/>
              </a:rPr>
              <a:t> </a:t>
            </a:r>
            <a:r>
              <a:rPr dirty="0" sz="2800" spc="-20">
                <a:latin typeface="Calibri"/>
                <a:cs typeface="Calibri"/>
              </a:rPr>
              <a:t>multi-</a:t>
            </a:r>
            <a:r>
              <a:rPr dirty="0" sz="2800">
                <a:latin typeface="Calibri"/>
                <a:cs typeface="Calibri"/>
              </a:rPr>
              <a:t>dimensional</a:t>
            </a:r>
            <a:r>
              <a:rPr dirty="0" sz="2800" spc="-7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evaluation</a:t>
            </a:r>
            <a:endParaRPr sz="28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665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2800">
                <a:latin typeface="Calibri"/>
                <a:cs typeface="Calibri"/>
              </a:rPr>
              <a:t>Identifies</a:t>
            </a:r>
            <a:r>
              <a:rPr dirty="0" sz="2800" spc="-13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low</a:t>
            </a:r>
            <a:r>
              <a:rPr dirty="0" sz="2800" spc="-12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adaptability</a:t>
            </a:r>
            <a:r>
              <a:rPr dirty="0" sz="2800" spc="-12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students</a:t>
            </a:r>
            <a:r>
              <a:rPr dirty="0" sz="2800" spc="-8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early</a:t>
            </a:r>
            <a:endParaRPr sz="28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670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2800">
                <a:latin typeface="Calibri"/>
                <a:cs typeface="Calibri"/>
              </a:rPr>
              <a:t>Supports</a:t>
            </a:r>
            <a:r>
              <a:rPr dirty="0" sz="2800" spc="-8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mentoring</a:t>
            </a:r>
            <a:r>
              <a:rPr dirty="0" sz="2800" spc="-9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and</a:t>
            </a:r>
            <a:r>
              <a:rPr dirty="0" sz="2800" spc="-11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recovery</a:t>
            </a:r>
            <a:r>
              <a:rPr dirty="0" sz="2800" spc="-12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tracking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60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latin typeface="Calibri"/>
                <a:cs typeface="Calibri"/>
              </a:rPr>
              <a:t>Enhances</a:t>
            </a:r>
            <a:r>
              <a:rPr dirty="0" sz="2800" spc="-10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institutional</a:t>
            </a:r>
            <a:r>
              <a:rPr dirty="0" sz="2800" spc="-8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academic</a:t>
            </a:r>
            <a:r>
              <a:rPr dirty="0" sz="2800" spc="-12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intelligence</a:t>
            </a:r>
            <a:endParaRPr sz="28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665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2800">
                <a:latin typeface="Calibri"/>
                <a:cs typeface="Calibri"/>
              </a:rPr>
              <a:t>It</a:t>
            </a:r>
            <a:r>
              <a:rPr dirty="0" sz="2800" spc="-100">
                <a:latin typeface="Calibri"/>
                <a:cs typeface="Calibri"/>
              </a:rPr>
              <a:t> </a:t>
            </a:r>
            <a:r>
              <a:rPr dirty="0" sz="2800" spc="-20">
                <a:latin typeface="Calibri"/>
                <a:cs typeface="Calibri"/>
              </a:rPr>
              <a:t>transforms</a:t>
            </a:r>
            <a:r>
              <a:rPr dirty="0" sz="2800" spc="-8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isolated</a:t>
            </a:r>
            <a:r>
              <a:rPr dirty="0" sz="2800" spc="-8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academic</a:t>
            </a:r>
            <a:r>
              <a:rPr dirty="0" sz="2800" spc="-9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data</a:t>
            </a:r>
            <a:r>
              <a:rPr dirty="0" sz="2800" spc="-9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into</a:t>
            </a:r>
            <a:r>
              <a:rPr dirty="0" sz="2800" spc="-8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actionable</a:t>
            </a:r>
            <a:r>
              <a:rPr dirty="0" sz="2800" spc="-9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insights.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KAVIPRIYA P</dc:creator>
  <dc:title>PowerPoint Presentation</dc:title>
  <dcterms:created xsi:type="dcterms:W3CDTF">2026-02-14T06:16:22Z</dcterms:created>
  <dcterms:modified xsi:type="dcterms:W3CDTF">2026-02-14T06:16:22Z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2026-02-14T00:00:00Z</vt:filetime>
  </property>
  <property fmtid="{D5CDD505-2E9C-101B-9397-08002B2CF9AE}" pid="3" name="Creator">
    <vt:lpwstr>Microsoft® PowerPoint® LTSC</vt:lpwstr>
  </property>
  <property fmtid="{D5CDD505-2E9C-101B-9397-08002B2CF9AE}" pid="4" name="LastSaved">
    <vt:filetime>2026-02-14T00:00:00Z</vt:filetime>
  </property>
  <property fmtid="{D5CDD505-2E9C-101B-9397-08002B2CF9AE}" pid="5" name="Producer">
    <vt:lpwstr>Microsoft® PowerPoint® LTSC</vt:lpwstr>
  </property>
</Properties>
</file>